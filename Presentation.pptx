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352B"/>
                </a:solidFill>
                <a:latin typeface="Times New Roman"/>
              </a:defRPr>
            </a:pPr>
            <a:r>
              <a:rPr sz="1200" b="0" i="0" u="none" strike="noStrike">
                <a:solidFill>
                  <a:srgbClr val="21352B"/>
                </a:solidFill>
                <a:latin typeface="Times New Roman"/>
              </a:rPr>
              <a:t>Core Retention Ratio by island group (2023)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CRR 2023</c:v>
                </c:pt>
              </c:strCache>
            </c:strRef>
          </c:tx>
          <c:spPr>
            <a:solidFill>
              <a:srgbClr val="1C7C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1352B"/>
                    </a:solidFill>
                    <a:latin typeface="Times New Roman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Nicobar</c:v>
                  </c:pt>
                  <c:pt idx="1">
                    <c:v>North &amp; Middle</c:v>
                  </c:pt>
                  <c:pt idx="2">
                    <c:v>South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0.598</c:v>
                </c:pt>
                <c:pt idx="1">
                  <c:v>0.57</c:v>
                </c:pt>
                <c:pt idx="2">
                  <c:v>0.292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1352B"/>
                  </a:solidFill>
                  <a:latin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b"/>
        <c:majorGridlines>
          <c:spPr>
            <a:ln w="12700" cap="flat">
              <a:solidFill>
                <a:srgbClr val="D6DD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6350" cap="flat">
      <a:solidFill>
        <a:srgbClr val="B7C5BE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title, candidate details and a meaningful map of the processed island centroids instead of a cropped dashboard screenshot. Use the buttons to open the dashboard and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presentation is not simply linear; the examiner can jump directly to sections or open the live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schematic to show the conceptual difference between intact forest, edge creation and isolated forest patches.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literature categories and position the project as a synthesis of remote sensing, landscape ecology and regional Andaman/Nicobar studies.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spatial units, the three island groups and the mainland-distance reference used in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connect the questions to the metrics that appear later: CRR, FI, IWFI and EII.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the data stack connects directly to the metrics and final dashboard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processing storyboard: reproject, threshold, remove loss, clip by island, compute metrics and visualise in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each metric clearly before moving to composite indicators.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formulas to interpretation: CRR is protective; FI and IWFI are stress indicators.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project is transparent about limitations of the aggregate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chart and table to highlight South Andaman CRR and the need to interpret configuration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size class effects support island-biogeography expectations, but with caution for very small polygons.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plot makes the central point that low loss does not necessarily mean high ecological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usefulness and limitation of trajectory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the relationship plots while being honest about statistical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is cautious about tsunami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a final deliverable that lets users reproduce the exploration interactively.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dashboard layer and how it supports the interpretation in Section 3.8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conclusions, limitations, acknowledgements and the reproducible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ndaman-nicobar-forest-analysis.streamlit.app/" TargetMode="External"/><Relationship Id="rId3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slide" Target="slide12.xml"/><Relationship Id="rId11" Type="http://schemas.openxmlformats.org/officeDocument/2006/relationships/slide" Target="slide18.xml"/><Relationship Id="rId12" Type="http://schemas.openxmlformats.org/officeDocument/2006/relationships/slide" Target="slide18.xml"/><Relationship Id="rId13" Type="http://schemas.openxmlformats.org/officeDocument/2006/relationships/slide" Target="slide2.xml"/><Relationship Id="rId14" Type="http://schemas.openxmlformats.org/officeDocument/2006/relationships/slide" Target="slide3.xml"/><Relationship Id="rId15" Type="http://schemas.openxmlformats.org/officeDocument/2006/relationships/slide" Target="slide5.xml"/><Relationship Id="rId16" Type="http://schemas.openxmlformats.org/officeDocument/2006/relationships/slide" Target="slide7.xml"/><Relationship Id="rId17" Type="http://schemas.openxmlformats.org/officeDocument/2006/relationships/slide" Target="slide8.xml"/><Relationship Id="rId18" Type="http://schemas.openxmlformats.org/officeDocument/2006/relationships/slide" Target="slide12.xml"/><Relationship Id="rId19" Type="http://schemas.openxmlformats.org/officeDocument/2006/relationships/slide" Target="slide18.xml"/><Relationship Id="rId20" Type="http://schemas.openxmlformats.org/officeDocument/2006/relationships/slide" Target="slide20.xml"/><Relationship Id="rId21" Type="http://schemas.openxmlformats.org/officeDocument/2006/relationships/hyperlink" Target="https://andaman-nicobar-forest-analysis.streamlit.app/" TargetMode="External"/><Relationship Id="rId22" Type="http://schemas.openxmlformats.org/officeDocument/2006/relationships/hyperlink" Target="https://github.com/sanchit-22/ContinentDeforestationAnalysis" TargetMode="External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3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2.xml"/><Relationship Id="rId7" Type="http://schemas.openxmlformats.org/officeDocument/2006/relationships/slide" Target="slide18.xml"/><Relationship Id="rId8" Type="http://schemas.openxmlformats.org/officeDocument/2006/relationships/slide" Target="slide20.xml"/><Relationship Id="rId9" Type="http://schemas.openxmlformats.org/officeDocument/2006/relationships/hyperlink" Target="https://andaman-nicobar-forest-analysis.streamlit.app/" TargetMode="External"/><Relationship Id="rId10" Type="http://schemas.openxmlformats.org/officeDocument/2006/relationships/hyperlink" Target="https://github.com/sanchit-22/ContinentDeforestationAnalysis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5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2.xml"/><Relationship Id="rId7" Type="http://schemas.openxmlformats.org/officeDocument/2006/relationships/slide" Target="slide18.xml"/><Relationship Id="rId8" Type="http://schemas.openxmlformats.org/officeDocument/2006/relationships/slide" Target="slide20.xml"/><Relationship Id="rId9" Type="http://schemas.openxmlformats.org/officeDocument/2006/relationships/hyperlink" Target="https://andaman-nicobar-forest-analysis.streamlit.app/" TargetMode="External"/><Relationship Id="rId10" Type="http://schemas.openxmlformats.org/officeDocument/2006/relationships/hyperlink" Target="https://github.com/sanchit-22/ContinentDeforestationAnalysis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7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8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2.xml"/><Relationship Id="rId7" Type="http://schemas.openxmlformats.org/officeDocument/2006/relationships/slide" Target="slide18.xml"/><Relationship Id="rId8" Type="http://schemas.openxmlformats.org/officeDocument/2006/relationships/slide" Target="slide20.xml"/><Relationship Id="rId9" Type="http://schemas.openxmlformats.org/officeDocument/2006/relationships/hyperlink" Target="https://andaman-nicobar-forest-analysis.streamlit.app/" TargetMode="External"/><Relationship Id="rId10" Type="http://schemas.openxmlformats.org/officeDocument/2006/relationships/hyperlink" Target="https://github.com/sanchit-22/ContinentDeforestationAnalysis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2.xml"/><Relationship Id="rId7" Type="http://schemas.openxmlformats.org/officeDocument/2006/relationships/slide" Target="slide18.xml"/><Relationship Id="rId8" Type="http://schemas.openxmlformats.org/officeDocument/2006/relationships/slide" Target="slide20.xml"/><Relationship Id="rId9" Type="http://schemas.openxmlformats.org/officeDocument/2006/relationships/hyperlink" Target="https://andaman-nicobar-forest-analysis.streamlit.app/" TargetMode="External"/><Relationship Id="rId10" Type="http://schemas.openxmlformats.org/officeDocument/2006/relationships/hyperlink" Target="https://github.com/sanchit-22/ContinentDeforestationAnalysis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2.xml"/><Relationship Id="rId7" Type="http://schemas.openxmlformats.org/officeDocument/2006/relationships/slide" Target="slide18.xml"/><Relationship Id="rId8" Type="http://schemas.openxmlformats.org/officeDocument/2006/relationships/slide" Target="slide20.xml"/><Relationship Id="rId9" Type="http://schemas.openxmlformats.org/officeDocument/2006/relationships/hyperlink" Target="https://andaman-nicobar-forest-analysis.streamlit.app/" TargetMode="External"/><Relationship Id="rId10" Type="http://schemas.openxmlformats.org/officeDocument/2006/relationships/hyperlink" Target="https://github.com/sanchit-22/ContinentDeforestationAnalysis" TargetMode="Externa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chart" Target="/ppt/charts/chart1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13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14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15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16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8.xml"/><Relationship Id="rId7" Type="http://schemas.openxmlformats.org/officeDocument/2006/relationships/slide" Target="slide12.xml"/><Relationship Id="rId8" Type="http://schemas.openxmlformats.org/officeDocument/2006/relationships/slide" Target="slide18.xml"/><Relationship Id="rId9" Type="http://schemas.openxmlformats.org/officeDocument/2006/relationships/slide" Target="slide20.xml"/><Relationship Id="rId10" Type="http://schemas.openxmlformats.org/officeDocument/2006/relationships/hyperlink" Target="https://andaman-nicobar-forest-analysis.streamlit.app/" TargetMode="External"/><Relationship Id="rId11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17-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ndaman-nicobar-forest-analysis.streamlit.app/" TargetMode="External"/><Relationship Id="rId3" Type="http://schemas.openxmlformats.org/officeDocument/2006/relationships/hyperlink" Target="https://andaman-nicobar-forest-analysis.streamlit.app/" TargetMode="Externa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5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" Target="slide12.xml"/><Relationship Id="rId10" Type="http://schemas.openxmlformats.org/officeDocument/2006/relationships/slide" Target="slide18.xml"/><Relationship Id="rId11" Type="http://schemas.openxmlformats.org/officeDocument/2006/relationships/slide" Target="slide20.xml"/><Relationship Id="rId12" Type="http://schemas.openxmlformats.org/officeDocument/2006/relationships/hyperlink" Target="https://andaman-nicobar-forest-analysis.streamlit.app/" TargetMode="External"/><Relationship Id="rId13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18-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ndaman-nicobar-forest-analysis.streamlit.app/" TargetMode="External"/><Relationship Id="rId4" Type="http://schemas.openxmlformats.org/officeDocument/2006/relationships/hyperlink" Target="https://andaman-nicobar-forest-analysis.streamlit.app/" TargetMode="External"/><Relationship Id="rId6" Type="http://schemas.openxmlformats.org/officeDocument/2006/relationships/hyperlink" Target="https://andaman-nicobar-forest-analysis.streamlit.app/" TargetMode="External"/><Relationship Id="rId8" Type="http://schemas.openxmlformats.org/officeDocument/2006/relationships/hyperlink" Target="https://andaman-nicobar-forest-analysis.streamlit.app/" TargetMode="External"/><Relationship Id="rId9" Type="http://schemas.openxmlformats.org/officeDocument/2006/relationships/slide" Target="slide2.xml"/><Relationship Id="rId10" Type="http://schemas.openxmlformats.org/officeDocument/2006/relationships/slide" Target="slide3.xml"/><Relationship Id="rId11" Type="http://schemas.openxmlformats.org/officeDocument/2006/relationships/slide" Target="slide5.xml"/><Relationship Id="rId12" Type="http://schemas.openxmlformats.org/officeDocument/2006/relationships/slide" Target="slide7.xml"/><Relationship Id="rId13" Type="http://schemas.openxmlformats.org/officeDocument/2006/relationships/slide" Target="slide8.xml"/><Relationship Id="rId14" Type="http://schemas.openxmlformats.org/officeDocument/2006/relationships/slide" Target="slide12.xml"/><Relationship Id="rId15" Type="http://schemas.openxmlformats.org/officeDocument/2006/relationships/slide" Target="slide18.xml"/><Relationship Id="rId16" Type="http://schemas.openxmlformats.org/officeDocument/2006/relationships/slide" Target="slide20.xml"/><Relationship Id="rId17" Type="http://schemas.openxmlformats.org/officeDocument/2006/relationships/hyperlink" Target="https://andaman-nicobar-forest-analysis.streamlit.app/" TargetMode="External"/><Relationship Id="rId18" Type="http://schemas.openxmlformats.org/officeDocument/2006/relationships/hyperlink" Target="https://github.com/sanchit-22/ContinentDeforestationAnalysis" TargetMode="External"/><Relationship Id="rId1" Type="http://schemas.openxmlformats.org/officeDocument/2006/relationships/image" Target="../media/image-19-1.png"/><Relationship Id="rId3" Type="http://schemas.openxmlformats.org/officeDocument/2006/relationships/image" Target="../media/image-19-2.png"/><Relationship Id="rId5" Type="http://schemas.openxmlformats.org/officeDocument/2006/relationships/image" Target="../media/image-19-3.png"/><Relationship Id="rId7" Type="http://schemas.openxmlformats.org/officeDocument/2006/relationships/image" Target="../media/image-19-4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andaman-nicobar-forest-analysis.streamlit.app/" TargetMode="External"/><Relationship Id="rId2" Type="http://schemas.openxmlformats.org/officeDocument/2006/relationships/hyperlink" Target="https://github.com/sanchit-22/ContinentDeforestationAnalysis" TargetMode="Externa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5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12.xml"/><Relationship Id="rId9" Type="http://schemas.openxmlformats.org/officeDocument/2006/relationships/slide" Target="slide18.xml"/><Relationship Id="rId10" Type="http://schemas.openxmlformats.org/officeDocument/2006/relationships/slide" Target="slide20.xml"/><Relationship Id="rId11" Type="http://schemas.openxmlformats.org/officeDocument/2006/relationships/hyperlink" Target="https://andaman-nicobar-forest-analysis.streamlit.app/" TargetMode="External"/><Relationship Id="rId12" Type="http://schemas.openxmlformats.org/officeDocument/2006/relationships/hyperlink" Target="https://github.com/sanchit-22/ContinentDeforestationAnalysis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5806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Fragmentation Dynamics in the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Andaman and Nicobar Islands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85216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0C4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Remote sensing and landscape metrics approach • 2000–2023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903720" y="420624"/>
            <a:ext cx="3977640" cy="5285232"/>
          </a:xfrm>
          <a:prstGeom prst="roundRect">
            <a:avLst>
              <a:gd name="adj" fmla="val 1839"/>
            </a:avLst>
          </a:prstGeom>
          <a:solidFill>
            <a:srgbClr val="071E2C"/>
          </a:solidFill>
          <a:ln w="13970">
            <a:solidFill>
              <a:srgbClr val="0C4A66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mnt/data/visual_cover_map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326" y="548640"/>
            <a:ext cx="1769285" cy="5010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57972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visual: processed island centroids, grouped by island region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94360" y="27980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312724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Sanchit Kumar  —  2024201042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Priyanshu Jha  —  2024201062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85876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Professor: Ramachandra Prasad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94360" y="46451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presentation aligned with the project report</a:t>
            </a:r>
            <a:endParaRPr lang="en-US" sz="1350" dirty="0"/>
          </a:p>
        </p:txBody>
      </p:sp>
      <p:sp>
        <p:nvSpPr>
          <p:cNvPr id="11" name="Text 8">
            <a:hlinkClick r:id="rId2" tooltip="Open the Streamlit dashboard"/>
          </p:cNvPr>
          <p:cNvSpPr/>
          <p:nvPr/>
        </p:nvSpPr>
        <p:spPr>
          <a:xfrm>
            <a:off x="594360" y="5166360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0C4A66"/>
          </a:solidFill>
          <a:ln w="6350">
            <a:solidFill>
              <a:srgbClr val="0C4A66"/>
            </a:solidFill>
          </a:ln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invalidUrl="" action="" tgtFrame="" tooltip="Open the Streamlit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dashboard</a:t>
            </a:r>
            <a:endParaRPr lang="en-US" sz="1100" dirty="0"/>
          </a:p>
        </p:txBody>
      </p:sp>
      <p:sp>
        <p:nvSpPr>
          <p:cNvPr id="12" name="Text 9">
            <a:hlinkClick r:id="rId3" tooltip="Open the GitHub repository"/>
          </p:cNvPr>
          <p:cNvSpPr/>
          <p:nvPr/>
        </p:nvSpPr>
        <p:spPr>
          <a:xfrm>
            <a:off x="2331720" y="516636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0B3D2E"/>
          </a:solidFill>
          <a:ln w="6350">
            <a:solidFill>
              <a:srgbClr val="0B3D2E"/>
            </a:solidFill>
          </a:ln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invalidUrl="" action="" tgtFrame="" tooltip="Open the GitHub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GitHub code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57241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Click the buttons and footer navigation during slideshow mode.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1/20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deck map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clickable navigation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03504" y="10515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this page as the home screen. Each section label is clickable, and the footer navigation remains available on every slide.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24712" y="2788920"/>
            <a:ext cx="9281160" cy="0"/>
          </a:xfrm>
          <a:prstGeom prst="line">
            <a:avLst/>
          </a:prstGeom>
          <a:noFill/>
          <a:ln w="17780">
            <a:solidFill>
              <a:srgbClr val="B7C5BE"/>
            </a:solidFill>
            <a:prstDash val="solid"/>
          </a:ln>
        </p:spPr>
      </p:sp>
      <p:sp>
        <p:nvSpPr>
          <p:cNvPr id="7" name="Text 5">
            <a:hlinkClick r:id="rId1" tooltip="Jump to Introduction" action="ppaction://hlinksldjump"/>
          </p:cNvPr>
          <p:cNvSpPr/>
          <p:nvPr/>
        </p:nvSpPr>
        <p:spPr>
          <a:xfrm>
            <a:off x="914400" y="2487168"/>
            <a:ext cx="566928" cy="566928"/>
          </a:xfrm>
          <a:prstGeom prst="ellipse">
            <a:avLst/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action="ppaction://hlinksldjump" tooltip="Jump to Introdu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2000" dirty="0"/>
          </a:p>
        </p:txBody>
      </p:sp>
      <p:sp>
        <p:nvSpPr>
          <p:cNvPr id="8" name="Text 6">
            <a:hlinkClick r:id="rId2" tooltip="Jump to Introduction" action="ppaction://hlinksldjump"/>
          </p:cNvPr>
          <p:cNvSpPr/>
          <p:nvPr/>
        </p:nvSpPr>
        <p:spPr>
          <a:xfrm>
            <a:off x="521208" y="32461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u="sng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Introdu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</a:t>
            </a:r>
            <a:endParaRPr lang="en-US" sz="1350" dirty="0"/>
          </a:p>
        </p:txBody>
      </p:sp>
      <p:sp>
        <p:nvSpPr>
          <p:cNvPr id="9" name="Text 7">
            <a:hlinkClick r:id="rId3" tooltip="Jump to Study area" action="ppaction://hlinksldjump"/>
          </p:cNvPr>
          <p:cNvSpPr/>
          <p:nvPr/>
        </p:nvSpPr>
        <p:spPr>
          <a:xfrm>
            <a:off x="2788920" y="2487168"/>
            <a:ext cx="566928" cy="566928"/>
          </a:xfrm>
          <a:prstGeom prst="ellipse">
            <a:avLst/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tudy are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2000" dirty="0"/>
          </a:p>
        </p:txBody>
      </p:sp>
      <p:sp>
        <p:nvSpPr>
          <p:cNvPr id="10" name="Text 8">
            <a:hlinkClick r:id="rId4" tooltip="Jump to Study area" action="ppaction://hlinksldjump"/>
          </p:cNvPr>
          <p:cNvSpPr/>
          <p:nvPr/>
        </p:nvSpPr>
        <p:spPr>
          <a:xfrm>
            <a:off x="2395728" y="32461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u="sng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tudy are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 area</a:t>
            </a:r>
            <a:endParaRPr lang="en-US" sz="1350" dirty="0"/>
          </a:p>
        </p:txBody>
      </p:sp>
      <p:sp>
        <p:nvSpPr>
          <p:cNvPr id="11" name="Text 9">
            <a:hlinkClick r:id="rId5" tooltip="Jump to Data" action="ppaction://hlinksldjump"/>
          </p:cNvPr>
          <p:cNvSpPr/>
          <p:nvPr/>
        </p:nvSpPr>
        <p:spPr>
          <a:xfrm>
            <a:off x="4663440" y="2487168"/>
            <a:ext cx="566928" cy="566928"/>
          </a:xfrm>
          <a:prstGeom prst="ellipse">
            <a:avLst/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2000" dirty="0"/>
          </a:p>
        </p:txBody>
      </p:sp>
      <p:sp>
        <p:nvSpPr>
          <p:cNvPr id="12" name="Text 10">
            <a:hlinkClick r:id="rId6" tooltip="Jump to Data" action="ppaction://hlinksldjump"/>
          </p:cNvPr>
          <p:cNvSpPr/>
          <p:nvPr/>
        </p:nvSpPr>
        <p:spPr>
          <a:xfrm>
            <a:off x="4270248" y="32461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u="sng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Da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1350" dirty="0"/>
          </a:p>
        </p:txBody>
      </p:sp>
      <p:sp>
        <p:nvSpPr>
          <p:cNvPr id="13" name="Text 11">
            <a:hlinkClick r:id="rId7" tooltip="Jump to Methods" action="ppaction://hlinksldjump"/>
          </p:cNvPr>
          <p:cNvSpPr/>
          <p:nvPr/>
        </p:nvSpPr>
        <p:spPr>
          <a:xfrm>
            <a:off x="6537960" y="2487168"/>
            <a:ext cx="566928" cy="566928"/>
          </a:xfrm>
          <a:prstGeom prst="ellipse">
            <a:avLst/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2000" dirty="0"/>
          </a:p>
        </p:txBody>
      </p:sp>
      <p:sp>
        <p:nvSpPr>
          <p:cNvPr id="14" name="Text 12">
            <a:hlinkClick r:id="rId8" tooltip="Jump to Methods" action="ppaction://hlinksldjump"/>
          </p:cNvPr>
          <p:cNvSpPr/>
          <p:nvPr/>
        </p:nvSpPr>
        <p:spPr>
          <a:xfrm>
            <a:off x="6144768" y="32461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u="sng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1350" dirty="0"/>
          </a:p>
        </p:txBody>
      </p:sp>
      <p:sp>
        <p:nvSpPr>
          <p:cNvPr id="15" name="Text 13">
            <a:hlinkClick r:id="rId9" tooltip="Jump to Results" action="ppaction://hlinksldjump"/>
          </p:cNvPr>
          <p:cNvSpPr/>
          <p:nvPr/>
        </p:nvSpPr>
        <p:spPr>
          <a:xfrm>
            <a:off x="8412480" y="2487168"/>
            <a:ext cx="566928" cy="566928"/>
          </a:xfrm>
          <a:prstGeom prst="ellipse">
            <a:avLst/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Resul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2000" dirty="0"/>
          </a:p>
        </p:txBody>
      </p:sp>
      <p:sp>
        <p:nvSpPr>
          <p:cNvPr id="16" name="Text 14">
            <a:hlinkClick r:id="rId10" tooltip="Jump to Results" action="ppaction://hlinksldjump"/>
          </p:cNvPr>
          <p:cNvSpPr/>
          <p:nvPr/>
        </p:nvSpPr>
        <p:spPr>
          <a:xfrm>
            <a:off x="8019288" y="32461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u="sng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action="ppaction://hlinksldjump" tooltip="Jump to Resul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1350" dirty="0"/>
          </a:p>
        </p:txBody>
      </p:sp>
      <p:sp>
        <p:nvSpPr>
          <p:cNvPr id="17" name="Text 15">
            <a:hlinkClick r:id="rId11" tooltip="Jump to Dashboard &amp; close" action="ppaction://hlinksldjump"/>
          </p:cNvPr>
          <p:cNvSpPr/>
          <p:nvPr/>
        </p:nvSpPr>
        <p:spPr>
          <a:xfrm>
            <a:off x="10287000" y="2487168"/>
            <a:ext cx="566928" cy="566928"/>
          </a:xfrm>
          <a:prstGeom prst="ellipse">
            <a:avLst/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action="ppaction://hlinksldjump" tooltip="Jump to Dashboard &amp; clo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2000" dirty="0"/>
          </a:p>
        </p:txBody>
      </p:sp>
      <p:sp>
        <p:nvSpPr>
          <p:cNvPr id="18" name="Text 16">
            <a:hlinkClick r:id="rId12" tooltip="Jump to Dashboard &amp; close" action="ppaction://hlinksldjump"/>
          </p:cNvPr>
          <p:cNvSpPr/>
          <p:nvPr/>
        </p:nvSpPr>
        <p:spPr>
          <a:xfrm>
            <a:off x="9893808" y="3246120"/>
            <a:ext cx="1353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u="sng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action="ppaction://hlinksldjump" tooltip="Jump to Dashboard &amp; clo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&amp; close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4315968"/>
            <a:ext cx="10104120" cy="749808"/>
          </a:xfrm>
          <a:prstGeom prst="roundRect">
            <a:avLst>
              <a:gd name="adj" fmla="val 9756"/>
            </a:avLst>
          </a:prstGeom>
          <a:solidFill>
            <a:srgbClr val="EAF5F8"/>
          </a:solidFill>
          <a:ln w="11430">
            <a:solidFill>
              <a:srgbClr val="0C4A66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4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Interactivity built in: agenda jump links, persistent footer navigation, and live external links to the production dashboard and GitHub repository.</a:t>
            </a:r>
            <a:endParaRPr lang="en-US" sz="1500" dirty="0"/>
          </a:p>
        </p:txBody>
      </p:sp>
      <p:sp>
        <p:nvSpPr>
          <p:cNvPr id="20" name="Text 18">
            <a:hlinkClick r:id="rId13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1C7C54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21" name="Text 19">
            <a:hlinkClick r:id="rId14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22" name="Text 20">
            <a:hlinkClick r:id="rId15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5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23" name="Text 21">
            <a:hlinkClick r:id="rId16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6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24" name="Text 22">
            <a:hlinkClick r:id="rId17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7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25" name="Text 23">
            <a:hlinkClick r:id="rId18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8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26" name="Text 24">
            <a:hlinkClick r:id="rId19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9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7" name="Text 25">
            <a:hlinkClick r:id="rId20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0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28" name="Text 26">
            <a:hlinkClick r:id="rId21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1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9" name="Text 27">
            <a:hlinkClick r:id="rId22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2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2/20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forest fragmentation matters in island ecosystems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Introduction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1005840"/>
            <a:ext cx="1508760" cy="292608"/>
          </a:xfrm>
          <a:prstGeom prst="roundRect">
            <a:avLst>
              <a:gd name="adj" fmla="val 31250"/>
            </a:avLst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motivation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31720" y="1005840"/>
            <a:ext cx="9738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Island forests can retain high total forest area while losing interior habitat, gaining edge exposure and becoming less connected.</a:t>
            </a:r>
            <a:endParaRPr lang="en-US" sz="1550" dirty="0"/>
          </a:p>
        </p:txBody>
      </p:sp>
      <p:pic>
        <p:nvPicPr>
          <p:cNvPr id="7" name="Image 0" descr="/mnt/data/visual_fragmentation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748" y="1444752"/>
            <a:ext cx="8893743" cy="4224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669280"/>
            <a:ext cx="10607040" cy="493776"/>
          </a:xfrm>
          <a:prstGeom prst="roundRect">
            <a:avLst>
              <a:gd name="adj" fmla="val 14815"/>
            </a:avLst>
          </a:prstGeom>
          <a:solidFill>
            <a:srgbClr val="E9F6EE"/>
          </a:solidFill>
          <a:ln w="11430">
            <a:solidFill>
              <a:srgbClr val="1C7C54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message: forest-area loss is not enough; spatial configuration, core retention and isolation must be analysed together.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basis: fragmentation theory from Fahrig (2003), Haddad et al. (2015), FRAGSTATS / PyLandStats metric families.</a:t>
            </a:r>
            <a:endParaRPr lang="en-US" sz="680" dirty="0"/>
          </a:p>
        </p:txBody>
      </p:sp>
      <p:sp>
        <p:nvSpPr>
          <p:cNvPr id="10" name="Text 7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1" name="Text 8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1C7C54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2" name="Text 9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3" name="Text 10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4" name="Text 11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15" name="Text 12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16" name="Text 13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7" name="Text 14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18" name="Text 15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9" name="Text 16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3/20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survey: what the project builds on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 Literature survey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85800" y="111556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1C7C54"/>
          </a:solidFill>
          <a:ln w="6350">
            <a:solidFill>
              <a:srgbClr val="1C7C54"/>
            </a:solidFill>
          </a:ln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forest monitoring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773936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B7C5BE"/>
            </a:solidFill>
          </a:ln>
        </p:spPr>
        <p:txBody>
          <a:bodyPr wrap="square" lIns="76200" tIns="101600" rIns="101600" bIns="7620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Hansen et al. (2013) provide 30 m Landsat-based tree-cover loss through annual loss-year layers. ESA WorldCover 2021 provides a 10 m land-cover snapshot for interpretation.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398264" y="111556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0C4A66"/>
          </a:solidFill>
          <a:ln w="6350">
            <a:solidFill>
              <a:srgbClr val="0C4A66"/>
            </a:solidFill>
          </a:ln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Fragmentation metrics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98264" y="1773936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B7C5BE"/>
            </a:solidFill>
          </a:ln>
        </p:spPr>
        <p:txBody>
          <a:bodyPr wrap="square" lIns="76200" tIns="101600" rIns="101600" bIns="7620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Fahrig (2003), Haddad et al. (2015), FRAGSTATS and PyLandStats support patch density, edge density, core area and nearest-neighbour metrics.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110728" y="1115568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EFA23A"/>
          </a:solidFill>
          <a:ln w="6350">
            <a:solidFill>
              <a:srgbClr val="EFA23A"/>
            </a:solidFill>
          </a:ln>
        </p:spPr>
        <p:txBody>
          <a:bodyPr wrap="square" lIns="38100" tIns="76200" rIns="762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Andaman–Nicobar studies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10728" y="1773936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8890">
            <a:solidFill>
              <a:srgbClr val="B7C5BE"/>
            </a:solidFill>
          </a:ln>
        </p:spPr>
        <p:txBody>
          <a:bodyPr wrap="square" lIns="76200" tIns="101600" rIns="101600" bIns="7620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Bahuguna et al. (2008), Tiwari et al. (2016) and Veettil et al. (2020) show the value of satellite data for coastal ecosystems, forest encroachment and mangrove dynamics in the islands.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4400" y="4315968"/>
            <a:ext cx="10314432" cy="804672"/>
          </a:xfrm>
          <a:prstGeom prst="roundRect">
            <a:avLst>
              <a:gd name="adj" fmla="val 9091"/>
            </a:avLst>
          </a:prstGeom>
          <a:solidFill>
            <a:srgbClr val="E9F6EE"/>
          </a:solidFill>
          <a:ln w="11430">
            <a:solidFill>
              <a:srgbClr val="1C7C54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addressed by this work: annual 2000–2023 forest masks + island-wise landscape metrics + interactive dashboard for the full archipelago.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references: Hansen et al. 2013; Zanaga et al. 2022; Fahrig 2003; Haddad et al. 2015; Bahuguna et al. 2008; Tiwari et al. 2016; Veettil et al. 2020.</a:t>
            </a:r>
            <a:endParaRPr lang="en-US" sz="680" dirty="0"/>
          </a:p>
        </p:txBody>
      </p:sp>
      <p:sp>
        <p:nvSpPr>
          <p:cNvPr id="13" name="Text 11">
            <a:hlinkClick r:id="rId1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4" name="Text 12">
            <a:hlinkClick r:id="rId2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5" name="Text 13">
            <a:hlinkClick r:id="rId3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6" name="Text 14">
            <a:hlinkClick r:id="rId4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7" name="Text 15">
            <a:hlinkClick r:id="rId5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18" name="Text 16">
            <a:hlinkClick r:id="rId6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19" name="Text 17">
            <a:hlinkClick r:id="rId7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0" name="Text 18">
            <a:hlinkClick r:id="rId8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21" name="Text 19">
            <a:hlinkClick r:id="rId9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2" name="Text 20">
            <a:hlinkClick r:id="rId10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4/20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Study area: Andaman and Nicobar archipelago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1.3 Study area</a:t>
            </a:r>
            <a:endParaRPr lang="en-US" sz="950" dirty="0"/>
          </a:p>
        </p:txBody>
      </p:sp>
      <p:pic>
        <p:nvPicPr>
          <p:cNvPr id="5" name="Image 0" descr="/mnt/data/visual_study_area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643927"/>
            <a:ext cx="5376672" cy="34604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115568"/>
            <a:ext cx="1828800" cy="421356"/>
          </a:xfrm>
          <a:prstGeom prst="roundRect">
            <a:avLst>
              <a:gd name="adj" fmla="val 13021"/>
            </a:avLst>
          </a:prstGeom>
          <a:solidFill>
            <a:srgbClr val="FFFFFF"/>
          </a:solidFill>
          <a:ln w="12700">
            <a:solidFill>
              <a:srgbClr val="1C7C54"/>
            </a:solidFill>
          </a:ln>
        </p:spPr>
        <p:txBody>
          <a:bodyPr wrap="square" lIns="25400" tIns="50800" rIns="50800" bIns="127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212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3232" y="1572036"/>
            <a:ext cx="1828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processed island polygons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788920" y="1115568"/>
            <a:ext cx="2194560" cy="421356"/>
          </a:xfrm>
          <a:prstGeom prst="roundRect">
            <a:avLst>
              <a:gd name="adj" fmla="val 13021"/>
            </a:avLst>
          </a:prstGeom>
          <a:solidFill>
            <a:srgbClr val="FFFFFF"/>
          </a:solidFill>
          <a:ln w="12700">
            <a:solidFill>
              <a:srgbClr val="0C4A66"/>
            </a:solidFill>
          </a:ln>
        </p:spPr>
        <p:txBody>
          <a:bodyPr wrap="square" lIns="25400" tIns="50800" rIns="50800" bIns="127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≈7,610.9 km²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88920" y="1572036"/>
            <a:ext cx="21945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processed total area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3232" y="2231136"/>
            <a:ext cx="1828800" cy="421356"/>
          </a:xfrm>
          <a:prstGeom prst="roundRect">
            <a:avLst>
              <a:gd name="adj" fmla="val 13021"/>
            </a:avLst>
          </a:prstGeom>
          <a:solidFill>
            <a:srgbClr val="FFFFFF"/>
          </a:solidFill>
          <a:ln w="12700">
            <a:solidFill>
              <a:srgbClr val="1C7C54"/>
            </a:solidFill>
          </a:ln>
        </p:spPr>
        <p:txBody>
          <a:bodyPr wrap="square" lIns="25400" tIns="50800" rIns="50800" bIns="127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2000–2023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13232" y="2687604"/>
            <a:ext cx="1828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years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88920" y="2231136"/>
            <a:ext cx="2194560" cy="421356"/>
          </a:xfrm>
          <a:prstGeom prst="roundRect">
            <a:avLst>
              <a:gd name="adj" fmla="val 13021"/>
            </a:avLst>
          </a:prstGeom>
          <a:solidFill>
            <a:srgbClr val="FFFFFF"/>
          </a:solidFill>
          <a:ln w="12700">
            <a:solidFill>
              <a:srgbClr val="0C4A66"/>
            </a:solidFill>
          </a:ln>
        </p:spPr>
        <p:txBody>
          <a:bodyPr wrap="square" lIns="25400" tIns="50800" rIns="50800" bIns="127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788920" y="2687604"/>
            <a:ext cx="219456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groups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3232" y="3611880"/>
            <a:ext cx="2148840" cy="301752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Island group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2862072" y="3611880"/>
            <a:ext cx="749808" cy="301752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Polygons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3611880" y="3611880"/>
            <a:ext cx="1261872" cy="301752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Area (km²)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713232" y="3913632"/>
            <a:ext cx="2148840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Nicobar Islands</a:t>
            </a:r>
            <a:endParaRPr lang="en-US" sz="1040" dirty="0"/>
          </a:p>
        </p:txBody>
      </p:sp>
      <p:sp>
        <p:nvSpPr>
          <p:cNvPr id="18" name="Text 15"/>
          <p:cNvSpPr/>
          <p:nvPr/>
        </p:nvSpPr>
        <p:spPr>
          <a:xfrm>
            <a:off x="2862072" y="3913632"/>
            <a:ext cx="749808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1040" dirty="0"/>
          </a:p>
        </p:txBody>
      </p:sp>
      <p:sp>
        <p:nvSpPr>
          <p:cNvPr id="19" name="Text 16"/>
          <p:cNvSpPr/>
          <p:nvPr/>
        </p:nvSpPr>
        <p:spPr>
          <a:xfrm>
            <a:off x="3611880" y="3913632"/>
            <a:ext cx="1261872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1,726.8</a:t>
            </a:r>
            <a:endParaRPr lang="en-US" sz="1040" dirty="0"/>
          </a:p>
        </p:txBody>
      </p:sp>
      <p:sp>
        <p:nvSpPr>
          <p:cNvPr id="20" name="Text 17"/>
          <p:cNvSpPr/>
          <p:nvPr/>
        </p:nvSpPr>
        <p:spPr>
          <a:xfrm>
            <a:off x="713232" y="4215384"/>
            <a:ext cx="2148840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North &amp; Middle Andaman</a:t>
            </a:r>
            <a:endParaRPr lang="en-US" sz="1040" dirty="0"/>
          </a:p>
        </p:txBody>
      </p:sp>
      <p:sp>
        <p:nvSpPr>
          <p:cNvPr id="21" name="Text 18"/>
          <p:cNvSpPr/>
          <p:nvPr/>
        </p:nvSpPr>
        <p:spPr>
          <a:xfrm>
            <a:off x="2862072" y="4215384"/>
            <a:ext cx="749808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119</a:t>
            </a:r>
            <a:endParaRPr lang="en-US" sz="1040" dirty="0"/>
          </a:p>
        </p:txBody>
      </p:sp>
      <p:sp>
        <p:nvSpPr>
          <p:cNvPr id="22" name="Text 19"/>
          <p:cNvSpPr/>
          <p:nvPr/>
        </p:nvSpPr>
        <p:spPr>
          <a:xfrm>
            <a:off x="3611880" y="4215384"/>
            <a:ext cx="1261872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3,406.5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713232" y="4517136"/>
            <a:ext cx="2148840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South Andaman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2862072" y="4517136"/>
            <a:ext cx="749808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</a:t>
            </a:r>
            <a:endParaRPr lang="en-US" sz="1040" dirty="0"/>
          </a:p>
        </p:txBody>
      </p:sp>
      <p:sp>
        <p:nvSpPr>
          <p:cNvPr id="25" name="Text 22"/>
          <p:cNvSpPr/>
          <p:nvPr/>
        </p:nvSpPr>
        <p:spPr>
          <a:xfrm>
            <a:off x="3611880" y="4517136"/>
            <a:ext cx="1261872" cy="30175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2,477.5</a:t>
            </a:r>
            <a:endParaRPr lang="en-US" sz="1040" dirty="0"/>
          </a:p>
        </p:txBody>
      </p:sp>
      <p:sp>
        <p:nvSpPr>
          <p:cNvPr id="26" name="Text 23"/>
          <p:cNvSpPr/>
          <p:nvPr/>
        </p:nvSpPr>
        <p:spPr>
          <a:xfrm>
            <a:off x="713232" y="5074920"/>
            <a:ext cx="4617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map uses project centroids and highlights the Chennai coast reference used for mainland-distance calculations.</a:t>
            </a:r>
            <a:endParaRPr lang="en-US" sz="1280" dirty="0"/>
          </a:p>
        </p:txBody>
      </p:sp>
      <p:sp>
        <p:nvSpPr>
          <p:cNvPr id="27" name="Text 24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28" name="Text 25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29" name="Text 26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1C7C54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30" name="Text 27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31" name="Text 28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32" name="Text 29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33" name="Text 30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4" name="Text 31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35" name="Text 32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6" name="Text 33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5/20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and research questions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 Objectives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13232" y="1042416"/>
            <a:ext cx="1645920" cy="292608"/>
          </a:xfrm>
          <a:prstGeom prst="roundRect">
            <a:avLst>
              <a:gd name="adj" fmla="val 31250"/>
            </a:avLst>
          </a:prstGeom>
          <a:solidFill>
            <a:srgbClr val="0C4A66"/>
          </a:solidFill>
          <a:ln>
            <a:solidFill>
              <a:srgbClr val="0C4A66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536192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1) Do smaller islands lose core forest faster than total forest area?</a:t>
            </a:r>
            <a:endParaRPr lang="en-US" sz="16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2) Do forest-loss levels approach fragmentation or percolation thresholds?</a:t>
            </a:r>
            <a:endParaRPr lang="en-US" sz="16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3) Is fragmentation better explained by mainland distance or by intra-archipelago connectivity?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37960" y="1042416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objectives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37960" y="1536192"/>
            <a:ext cx="46634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6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Generate annual forest/non-forest masks from Hansen tree cover and loss-year layers.</a:t>
            </a:r>
            <a:endParaRPr lang="en-US" sz="156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6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Compute PLAND, PD, ED, TCA, ENN_MN and patch counts for every island.</a:t>
            </a:r>
            <a:endParaRPr lang="en-US" sz="156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6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Derive CRR, FI, IWFI, EII and cumulative loss indicators.</a:t>
            </a:r>
            <a:endParaRPr lang="en-US" sz="156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6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Compare patterns by group, size class, isolation and trajectory.</a:t>
            </a:r>
            <a:endParaRPr lang="en-US" sz="156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6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Deploy a reproducible Streamlit/Folium dashboard.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960120" y="4407408"/>
            <a:ext cx="10195560" cy="685800"/>
          </a:xfrm>
          <a:prstGeom prst="roundRect">
            <a:avLst>
              <a:gd name="adj" fmla="val 10667"/>
            </a:avLst>
          </a:prstGeom>
          <a:solidFill>
            <a:srgbClr val="E9F6EE"/>
          </a:solidFill>
          <a:ln w="11430">
            <a:solidFill>
              <a:srgbClr val="1C7C54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Analytical focus: move from forest area to forest configuration.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534924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and code are linked throughout this deck for live verification and reproducibility.</a:t>
            </a:r>
            <a:endParaRPr lang="en-US" sz="1350" dirty="0"/>
          </a:p>
        </p:txBody>
      </p:sp>
      <p:sp>
        <p:nvSpPr>
          <p:cNvPr id="11" name="Text 9">
            <a:hlinkClick r:id="rId1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2" name="Text 10">
            <a:hlinkClick r:id="rId2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3" name="Text 11">
            <a:hlinkClick r:id="rId3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4" name="Text 12">
            <a:hlinkClick r:id="rId4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5" name="Text 13">
            <a:hlinkClick r:id="rId5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16" name="Text 14">
            <a:hlinkClick r:id="rId6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17" name="Text 15">
            <a:hlinkClick r:id="rId7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8" name="Text 16">
            <a:hlinkClick r:id="rId8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19" name="Text 17">
            <a:hlinkClick r:id="rId9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0" name="Text 18">
            <a:hlinkClick r:id="rId10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6/20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Materials: satellite data, boundaries and software stack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2.1 Data used</a:t>
            </a:r>
            <a:endParaRPr lang="en-US" sz="950" dirty="0"/>
          </a:p>
        </p:txBody>
      </p:sp>
      <p:pic>
        <p:nvPicPr>
          <p:cNvPr id="5" name="Image 0" descr="/mnt/data/visual_data_stack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862" y="1005840"/>
            <a:ext cx="9721516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5650992"/>
            <a:ext cx="10058400" cy="502920"/>
          </a:xfrm>
          <a:prstGeom prst="roundRect">
            <a:avLst>
              <a:gd name="adj" fmla="val 14545"/>
            </a:avLst>
          </a:prstGeom>
          <a:solidFill>
            <a:srgbClr val="EAF5F8"/>
          </a:solidFill>
          <a:ln w="11430">
            <a:solidFill>
              <a:srgbClr val="0C4A66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4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dashboard note: ESA WorldCover is a 2021 classification snapshot and does not respond to the year slider.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sources follow the report: Hansen Global Forest Change; ESA WorldCover 2021; GADM/vector island boundaries; open-source Python geospatial ecosystem.</a:t>
            </a:r>
            <a:endParaRPr lang="en-US" sz="680" dirty="0"/>
          </a:p>
        </p:txBody>
      </p:sp>
      <p:sp>
        <p:nvSpPr>
          <p:cNvPr id="8" name="Text 5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9" name="Text 6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0" name="Text 7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1" name="Text 8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1C7C54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2" name="Text 9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13" name="Text 10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14" name="Text 11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5" name="Text 12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16" name="Text 13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7" name="Text 14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7/20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Processing workflow: from rasters to dashboard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 Data processing</a:t>
            </a:r>
            <a:endParaRPr lang="en-US" sz="950" dirty="0"/>
          </a:p>
        </p:txBody>
      </p:sp>
      <p:pic>
        <p:nvPicPr>
          <p:cNvPr id="5" name="Image 0" descr="/mnt/data/visual_processing_storyboard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974" y="1024128"/>
            <a:ext cx="10703293" cy="5084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baseline: year-2000 tree cover &gt;30%; loss-year pixels up to the selected year are removed before island-wise metric calculation.</a:t>
            </a:r>
            <a:endParaRPr lang="en-US" sz="680" dirty="0"/>
          </a:p>
        </p:txBody>
      </p:sp>
      <p:sp>
        <p:nvSpPr>
          <p:cNvPr id="7" name="Text 4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8" name="Text 5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9" name="Text 6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0" name="Text 7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1" name="Text 8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1C7C54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12" name="Text 9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13" name="Text 10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4" name="Text 11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15" name="Text 12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6" name="Text 13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8/20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landscape metrics used in the analysis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 Metrics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1792" y="1024128"/>
            <a:ext cx="1097280" cy="576072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1719072" y="1024128"/>
            <a:ext cx="3063240" cy="576072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4782312" y="1024128"/>
            <a:ext cx="2377440" cy="576072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Interpretive use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621792" y="1600200"/>
            <a:ext cx="10972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PLAND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1719072" y="1600200"/>
            <a:ext cx="30632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Percentage of landscape occupied by forest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4782312" y="1600200"/>
            <a:ext cx="23774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Area-based forest proportion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21792" y="2176272"/>
            <a:ext cx="10972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PD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719072" y="2176272"/>
            <a:ext cx="30632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Patch density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782312" y="2176272"/>
            <a:ext cx="23774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forest patches occur per area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21792" y="2752344"/>
            <a:ext cx="10972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719072" y="2752344"/>
            <a:ext cx="30632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 density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782312" y="2752344"/>
            <a:ext cx="23774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exposed and irregular forest boundaries are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21792" y="3328416"/>
            <a:ext cx="10972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TCA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719072" y="3328416"/>
            <a:ext cx="30632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core area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782312" y="3328416"/>
            <a:ext cx="23774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Interior forest area after edge buffering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21792" y="3904488"/>
            <a:ext cx="10972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ENN_MN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1719072" y="3904488"/>
            <a:ext cx="30632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Euclidean nearest-neighbour distance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782312" y="3904488"/>
            <a:ext cx="23774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Patch isolation within an island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621792" y="4480560"/>
            <a:ext cx="109728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n_patches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1719072" y="4480560"/>
            <a:ext cx="30632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Number of forest patches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782312" y="4480560"/>
            <a:ext cx="2377440" cy="576072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Patch break-up indicator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543800" y="1143000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E9F6EE"/>
          </a:solidFill>
          <a:ln w="11430">
            <a:solidFill>
              <a:srgbClr val="1C7C54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matters: a forest can retain area but lose interior/core habitat if patches become narrower, more fragmented or more edge-exposed.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35240" y="2587752"/>
            <a:ext cx="3639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report follows standard landscape-ecology logic: area, edge, patch and isolation metrics are interpreted together rather than independently.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35240" y="4023360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0C4A66"/>
          </a:solidFill>
          <a:ln>
            <a:solidFill>
              <a:srgbClr val="0C4A66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 family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35240" y="449884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PyLandStats implements comparable workflows in Python, extending the FRAGSTATS class-level metric tradition.</a:t>
            </a:r>
            <a:endParaRPr lang="en-US" sz="1450" dirty="0"/>
          </a:p>
        </p:txBody>
      </p:sp>
      <p:sp>
        <p:nvSpPr>
          <p:cNvPr id="30" name="Text 28">
            <a:hlinkClick r:id="rId1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31" name="Text 29">
            <a:hlinkClick r:id="rId2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32" name="Text 30">
            <a:hlinkClick r:id="rId3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33" name="Text 31">
            <a:hlinkClick r:id="rId4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34" name="Text 32">
            <a:hlinkClick r:id="rId5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35" name="Text 33">
            <a:hlinkClick r:id="rId6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36" name="Text 34">
            <a:hlinkClick r:id="rId7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7" name="Text 35">
            <a:hlinkClick r:id="rId8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38" name="Text 36">
            <a:hlinkClick r:id="rId9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9" name="Text 37">
            <a:hlinkClick r:id="rId10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9/20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Composite indicators: translating metrics into ecological meaning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 Metrics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13232" y="1097280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E9F6EE"/>
          </a:solidFill>
          <a:ln w="7620">
            <a:solidFill>
              <a:srgbClr val="1C7C54"/>
            </a:solidFill>
          </a:ln>
        </p:spPr>
        <p:txBody>
          <a:bodyPr wrap="square" lIns="25400" tIns="76200" rIns="76200" bIns="2540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CRR = TCA / TA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52628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Retention Ratio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15200" y="111556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CRR means more forest remains as interior/core habitat.</a:t>
            </a:r>
            <a:endParaRPr lang="en-US" sz="1360" dirty="0"/>
          </a:p>
        </p:txBody>
      </p:sp>
      <p:sp>
        <p:nvSpPr>
          <p:cNvPr id="8" name="Text 6"/>
          <p:cNvSpPr/>
          <p:nvPr/>
        </p:nvSpPr>
        <p:spPr>
          <a:xfrm>
            <a:off x="713232" y="2212848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E9F6EE"/>
          </a:solidFill>
          <a:ln w="7620">
            <a:solidFill>
              <a:srgbClr val="1C7C54"/>
            </a:solidFill>
          </a:ln>
        </p:spPr>
        <p:txBody>
          <a:bodyPr wrap="square" lIns="25400" tIns="76200" rIns="76200" bIns="2540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 = (ED × PD) / PLAND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26280" y="2231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Fragmentation Index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0" y="223113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FI means more edge and patch break-up relative to forest proportion.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713232" y="3328416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E9F6EE"/>
          </a:solidFill>
          <a:ln w="7620">
            <a:solidFill>
              <a:srgbClr val="1C7C54"/>
            </a:solidFill>
          </a:ln>
        </p:spPr>
        <p:txBody>
          <a:bodyPr wrap="square" lIns="25400" tIns="76200" rIns="76200" bIns="2540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IWFI = FI × ln(ENN_MN + 1) × ln(distance + 1)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26280" y="3346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Isolation-Weighted Fragmentation Index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15200" y="334670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Adds patch isolation and mainland distance to the fragmentation signal.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713232" y="4443984"/>
            <a:ext cx="3474720" cy="411480"/>
          </a:xfrm>
          <a:prstGeom prst="roundRect">
            <a:avLst>
              <a:gd name="adj" fmla="val 11111"/>
            </a:avLst>
          </a:prstGeom>
          <a:solidFill>
            <a:srgbClr val="E9F6EE"/>
          </a:solidFill>
          <a:ln w="7620">
            <a:solidFill>
              <a:srgbClr val="1C7C54"/>
            </a:solidFill>
          </a:ln>
        </p:spPr>
        <p:txBody>
          <a:bodyPr wrap="square" lIns="25400" tIns="76200" rIns="76200" bIns="2540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EII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26280" y="4462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Isolation Index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315200" y="44622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Represents intra-archipelago isolation used to compare connectivity effects.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914400" y="5532120"/>
            <a:ext cx="10195560" cy="566928"/>
          </a:xfrm>
          <a:prstGeom prst="roundRect">
            <a:avLst>
              <a:gd name="adj" fmla="val 12903"/>
            </a:avLst>
          </a:prstGeom>
          <a:solidFill>
            <a:srgbClr val="EAF5F8"/>
          </a:solidFill>
          <a:ln w="11430">
            <a:solidFill>
              <a:srgbClr val="0C4A66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4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 rule: use CRR together with FI/IWFI — not a single metric — to avoid over-reading area-only changes.</a:t>
            </a:r>
            <a:endParaRPr lang="en-US" sz="1500" dirty="0"/>
          </a:p>
        </p:txBody>
      </p:sp>
      <p:sp>
        <p:nvSpPr>
          <p:cNvPr id="18" name="Text 16">
            <a:hlinkClick r:id="rId1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9" name="Text 17">
            <a:hlinkClick r:id="rId2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20" name="Text 18">
            <a:hlinkClick r:id="rId3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21" name="Text 19">
            <a:hlinkClick r:id="rId4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22" name="Text 20">
            <a:hlinkClick r:id="rId5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23" name="Text 21">
            <a:hlinkClick r:id="rId6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24" name="Text 22">
            <a:hlinkClick r:id="rId7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5" name="Text 23">
            <a:hlinkClick r:id="rId8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26" name="Text 24">
            <a:hlinkClick r:id="rId9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7" name="Text 25">
            <a:hlinkClick r:id="rId10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10/20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Statistical analysis: exploratory modelling and transparent caveats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 Statistical analysis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94944" y="1042416"/>
            <a:ext cx="1874520" cy="292608"/>
          </a:xfrm>
          <a:prstGeom prst="roundRect">
            <a:avLst>
              <a:gd name="adj" fmla="val 31250"/>
            </a:avLst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/ analyses used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8096" y="1572768"/>
            <a:ext cx="51206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3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K-means clustering of CRR trajectories into Stable, Linear Degradation and Rapid Collapse labels.</a:t>
            </a:r>
            <a:endParaRPr lang="en-US" sz="153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3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OLS model for 2023 IWFI drivers using log area, log mainland distance and effective isolation.</a:t>
            </a:r>
            <a:endParaRPr lang="en-US" sz="153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3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Correlation comparison between IWFI and mainland distance / effective isolation.</a:t>
            </a:r>
            <a:endParaRPr lang="en-US" sz="153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3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Piecewise regression to identify island-size threshold where CRR stabilises.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6199632" y="1243584"/>
            <a:ext cx="1508760" cy="466344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7708392" y="1243584"/>
            <a:ext cx="1417320" cy="466344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Reported value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9125712" y="1243584"/>
            <a:ext cx="2103120" cy="466344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199632" y="1709928"/>
            <a:ext cx="150876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OLS observations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7708392" y="1709928"/>
            <a:ext cx="141732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= 3 aggregate groups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125712" y="1709928"/>
            <a:ext cx="210312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Screening only; not causal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199632" y="2176272"/>
            <a:ext cx="150876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Breakpoint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7708392" y="2176272"/>
            <a:ext cx="141732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3196.95 km²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125712" y="2176272"/>
            <a:ext cx="210312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CRR stabilises above this size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199632" y="2642616"/>
            <a:ext cx="150876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Mainland distance vs IWFI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7708392" y="2642616"/>
            <a:ext cx="141732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-0.987, p = 0.1043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125712" y="2642616"/>
            <a:ext cx="210312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correlation; not significant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199632" y="3108960"/>
            <a:ext cx="150876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isolation vs IWFI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708392" y="3108960"/>
            <a:ext cx="141732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= -0.989, p = 0.0959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9125712" y="3108960"/>
            <a:ext cx="2103120" cy="466344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correlation; not significant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051560" y="4462272"/>
            <a:ext cx="10104120" cy="749808"/>
          </a:xfrm>
          <a:prstGeom prst="roundRect">
            <a:avLst>
              <a:gd name="adj" fmla="val 9756"/>
            </a:avLst>
          </a:prstGeom>
          <a:solidFill>
            <a:srgbClr val="FBEDEB"/>
          </a:solidFill>
          <a:ln w="11430">
            <a:solidFill>
              <a:srgbClr val="D94A3A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Caution: high R² values from a three-group model are descriptive, not statistical proof. Use them as screening evidence.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summary file: OLS rank exceeds observations; p-values are not significant at 0.05; condition number indicates numerical concerns.</a:t>
            </a:r>
            <a:endParaRPr lang="en-US" sz="680" dirty="0"/>
          </a:p>
        </p:txBody>
      </p:sp>
      <p:sp>
        <p:nvSpPr>
          <p:cNvPr id="24" name="Text 22">
            <a:hlinkClick r:id="rId1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25" name="Text 23">
            <a:hlinkClick r:id="rId2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26" name="Text 24">
            <a:hlinkClick r:id="rId3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27" name="Text 25">
            <a:hlinkClick r:id="rId4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28" name="Text 26">
            <a:hlinkClick r:id="rId5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29" name="Text 27">
            <a:hlinkClick r:id="rId6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30" name="Text 28">
            <a:hlinkClick r:id="rId7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1" name="Text 29">
            <a:hlinkClick r:id="rId8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32" name="Text 30">
            <a:hlinkClick r:id="rId9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3" name="Text 31">
            <a:hlinkClick r:id="rId10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11/20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1 — Forest-area loss is low, but core retention differs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 Aggregate results</a:t>
            </a:r>
            <a:endParaRPr lang="en-US" sz="9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078992"/>
          <a:ext cx="516636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143000"/>
            <a:ext cx="1755648" cy="361188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</a:t>
            </a:r>
            <a:endParaRPr lang="en-US" sz="870" dirty="0"/>
          </a:p>
        </p:txBody>
      </p:sp>
      <p:sp>
        <p:nvSpPr>
          <p:cNvPr id="7" name="Text 4"/>
          <p:cNvSpPr/>
          <p:nvPr/>
        </p:nvSpPr>
        <p:spPr>
          <a:xfrm>
            <a:off x="8019288" y="1143000"/>
            <a:ext cx="1170432" cy="361188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2023</a:t>
            </a:r>
            <a:endParaRPr lang="en-US" sz="870" dirty="0"/>
          </a:p>
        </p:txBody>
      </p:sp>
      <p:sp>
        <p:nvSpPr>
          <p:cNvPr id="8" name="Text 5"/>
          <p:cNvSpPr/>
          <p:nvPr/>
        </p:nvSpPr>
        <p:spPr>
          <a:xfrm>
            <a:off x="9189720" y="1143000"/>
            <a:ext cx="530352" cy="361188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CRR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9720072" y="1143000"/>
            <a:ext cx="603504" cy="361188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%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10323576" y="1143000"/>
            <a:ext cx="566928" cy="361188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IWFI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6263640" y="1504188"/>
            <a:ext cx="1755648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Nicobar Islands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8019288" y="1504188"/>
            <a:ext cx="1170432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172,122 ha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9189720" y="1504188"/>
            <a:ext cx="530352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0.598</a:t>
            </a:r>
            <a:endParaRPr lang="en-US" sz="870" dirty="0"/>
          </a:p>
        </p:txBody>
      </p:sp>
      <p:sp>
        <p:nvSpPr>
          <p:cNvPr id="14" name="Text 11"/>
          <p:cNvSpPr/>
          <p:nvPr/>
        </p:nvSpPr>
        <p:spPr>
          <a:xfrm>
            <a:off x="9720072" y="1504188"/>
            <a:ext cx="603504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1.812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10323576" y="1504188"/>
            <a:ext cx="566928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205.7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6263640" y="1865376"/>
            <a:ext cx="1755648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North &amp; Middle Andaman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8019288" y="1865376"/>
            <a:ext cx="1170432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338,579 ha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9189720" y="1865376"/>
            <a:ext cx="530352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0.570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9720072" y="1865376"/>
            <a:ext cx="603504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1.042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10323576" y="1865376"/>
            <a:ext cx="566928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229.6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6263640" y="2226564"/>
            <a:ext cx="1755648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South Andaman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8019288" y="2226564"/>
            <a:ext cx="1170432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246,358 ha</a:t>
            </a:r>
            <a:endParaRPr lang="en-US" sz="870" dirty="0"/>
          </a:p>
        </p:txBody>
      </p:sp>
      <p:sp>
        <p:nvSpPr>
          <p:cNvPr id="23" name="Text 20"/>
          <p:cNvSpPr/>
          <p:nvPr/>
        </p:nvSpPr>
        <p:spPr>
          <a:xfrm>
            <a:off x="9189720" y="2226564"/>
            <a:ext cx="530352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0.292</a:t>
            </a:r>
            <a:endParaRPr lang="en-US" sz="870" dirty="0"/>
          </a:p>
        </p:txBody>
      </p:sp>
      <p:sp>
        <p:nvSpPr>
          <p:cNvPr id="24" name="Text 21"/>
          <p:cNvSpPr/>
          <p:nvPr/>
        </p:nvSpPr>
        <p:spPr>
          <a:xfrm>
            <a:off x="9720072" y="2226564"/>
            <a:ext cx="603504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0.546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10323576" y="2226564"/>
            <a:ext cx="566928" cy="36118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175.9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6309360" y="3072384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Aggregate forest-area loss remains low in all three groups.</a:t>
            </a:r>
            <a:endParaRPr lang="en-US" sz="148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South Andaman has the lowest aggregate CRR in 2023, indicating higher edge-dominated forest.</a:t>
            </a:r>
            <a:endParaRPr lang="en-US" sz="148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North &amp; Middle Andaman shows high IWFI in the 2023 summary because fragmentation and isolation components combine.</a:t>
            </a:r>
            <a:endParaRPr lang="en-US" sz="1480" dirty="0"/>
          </a:p>
        </p:txBody>
      </p:sp>
      <p:sp>
        <p:nvSpPr>
          <p:cNvPr id="27" name="Text 24"/>
          <p:cNvSpPr/>
          <p:nvPr/>
        </p:nvSpPr>
        <p:spPr>
          <a:xfrm>
            <a:off x="1024128" y="4892040"/>
            <a:ext cx="10058400" cy="603504"/>
          </a:xfrm>
          <a:prstGeom prst="roundRect">
            <a:avLst>
              <a:gd name="adj" fmla="val 12121"/>
            </a:avLst>
          </a:prstGeom>
          <a:solidFill>
            <a:srgbClr val="E9F6EE"/>
          </a:solidFill>
          <a:ln w="11430">
            <a:solidFill>
              <a:srgbClr val="1C7C54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retention is the stronger story than total area loss.</a:t>
            </a:r>
            <a:endParaRPr lang="en-US" sz="1500" dirty="0"/>
          </a:p>
        </p:txBody>
      </p:sp>
      <p:sp>
        <p:nvSpPr>
          <p:cNvPr id="28" name="Text 25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29" name="Text 26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30" name="Text 27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31" name="Text 28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32" name="Text 29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33" name="Text 30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1C7C54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34" name="Text 31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5" name="Text 32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36" name="Text 33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7" name="Text 34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12/20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2 — Tiny islands amplify fragmentation signals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 Edge density by size class</a:t>
            </a:r>
            <a:endParaRPr lang="en-US" sz="950" dirty="0"/>
          </a:p>
        </p:txBody>
      </p:sp>
      <p:pic>
        <p:nvPicPr>
          <p:cNvPr id="5" name="Image 0" descr="/mnt/data/extracted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56571"/>
            <a:ext cx="6748272" cy="27275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1097280"/>
            <a:ext cx="2103120" cy="292608"/>
          </a:xfrm>
          <a:prstGeom prst="roundRect">
            <a:avLst>
              <a:gd name="adj" fmla="val 31250"/>
            </a:avLst>
          </a:prstGeom>
          <a:solidFill>
            <a:srgbClr val="0C4A66"/>
          </a:solidFill>
          <a:ln>
            <a:solidFill>
              <a:srgbClr val="0C4A66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 size-class snapshot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26680" y="1627632"/>
            <a:ext cx="1207008" cy="338328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</a:t>
            </a:r>
            <a:endParaRPr lang="en-US" sz="870" dirty="0"/>
          </a:p>
        </p:txBody>
      </p:sp>
      <p:sp>
        <p:nvSpPr>
          <p:cNvPr id="8" name="Text 5"/>
          <p:cNvSpPr/>
          <p:nvPr/>
        </p:nvSpPr>
        <p:spPr>
          <a:xfrm>
            <a:off x="8933688" y="1627632"/>
            <a:ext cx="658368" cy="338328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Polygons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9592056" y="1627632"/>
            <a:ext cx="676656" cy="338328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FI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10268712" y="1627632"/>
            <a:ext cx="1042416" cy="338328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IWFI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7726680" y="1965960"/>
            <a:ext cx="1207008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tiny (&lt;10)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8933688" y="1965960"/>
            <a:ext cx="658368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176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9592056" y="1965960"/>
            <a:ext cx="676656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6.296</a:t>
            </a:r>
            <a:endParaRPr lang="en-US" sz="870" dirty="0"/>
          </a:p>
        </p:txBody>
      </p:sp>
      <p:sp>
        <p:nvSpPr>
          <p:cNvPr id="14" name="Text 11"/>
          <p:cNvSpPr/>
          <p:nvPr/>
        </p:nvSpPr>
        <p:spPr>
          <a:xfrm>
            <a:off x="10268712" y="1965960"/>
            <a:ext cx="1042416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254.3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7726680" y="2304288"/>
            <a:ext cx="1207008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(10–50)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8933688" y="2304288"/>
            <a:ext cx="658368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9592056" y="2304288"/>
            <a:ext cx="676656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2.741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10268712" y="2304288"/>
            <a:ext cx="1042416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108.8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7726680" y="2642616"/>
            <a:ext cx="1207008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medium (50–200)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8933688" y="2642616"/>
            <a:ext cx="658368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9592056" y="2642616"/>
            <a:ext cx="676656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2.205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10268712" y="2642616"/>
            <a:ext cx="1042416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89.5</a:t>
            </a:r>
            <a:endParaRPr lang="en-US" sz="870" dirty="0"/>
          </a:p>
        </p:txBody>
      </p:sp>
      <p:sp>
        <p:nvSpPr>
          <p:cNvPr id="23" name="Text 20"/>
          <p:cNvSpPr/>
          <p:nvPr/>
        </p:nvSpPr>
        <p:spPr>
          <a:xfrm>
            <a:off x="7726680" y="2980944"/>
            <a:ext cx="1207008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(&gt;200)</a:t>
            </a:r>
            <a:endParaRPr lang="en-US" sz="870" dirty="0"/>
          </a:p>
        </p:txBody>
      </p:sp>
      <p:sp>
        <p:nvSpPr>
          <p:cNvPr id="24" name="Text 21"/>
          <p:cNvSpPr/>
          <p:nvPr/>
        </p:nvSpPr>
        <p:spPr>
          <a:xfrm>
            <a:off x="8933688" y="2980944"/>
            <a:ext cx="658368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9592056" y="2980944"/>
            <a:ext cx="676656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3.089</a:t>
            </a:r>
            <a:endParaRPr lang="en-US" sz="870" dirty="0"/>
          </a:p>
        </p:txBody>
      </p:sp>
      <p:sp>
        <p:nvSpPr>
          <p:cNvPr id="26" name="Text 23"/>
          <p:cNvSpPr/>
          <p:nvPr/>
        </p:nvSpPr>
        <p:spPr>
          <a:xfrm>
            <a:off x="10268712" y="2980944"/>
            <a:ext cx="1042416" cy="338328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130.3</a:t>
            </a:r>
            <a:endParaRPr lang="en-US" sz="870" dirty="0"/>
          </a:p>
        </p:txBody>
      </p:sp>
      <p:sp>
        <p:nvSpPr>
          <p:cNvPr id="27" name="Text 24"/>
          <p:cNvSpPr/>
          <p:nvPr/>
        </p:nvSpPr>
        <p:spPr>
          <a:xfrm>
            <a:off x="7726680" y="3703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boxplot shows year-to-year variability in edge density. Small and tiny islands can show large metric swings because a few changed pixels strongly affect patch and edge ratios.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1005840" y="5047488"/>
            <a:ext cx="10058400" cy="621792"/>
          </a:xfrm>
          <a:prstGeom prst="roundRect">
            <a:avLst>
              <a:gd name="adj" fmla="val 11765"/>
            </a:avLst>
          </a:prstGeom>
          <a:solidFill>
            <a:srgbClr val="FFF5E7"/>
          </a:solidFill>
          <a:ln w="11430">
            <a:solidFill>
              <a:srgbClr val="EFA23A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A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 carefully: tiny polygons are ecologically important, but their ratios can be numerically unstable.</a:t>
            </a:r>
            <a:endParaRPr lang="en-US" sz="1500" dirty="0"/>
          </a:p>
        </p:txBody>
      </p:sp>
      <p:sp>
        <p:nvSpPr>
          <p:cNvPr id="29" name="Text 26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30" name="Text 27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31" name="Text 28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32" name="Text 29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33" name="Text 30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34" name="Text 31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35" name="Text 32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6" name="Text 33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37" name="Text 34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38" name="Text 35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13/20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3 — Low forest loss can still hide core-habitat stress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3.3 Forest loss and CRR</a:t>
            </a:r>
            <a:endParaRPr lang="en-US" sz="950" dirty="0"/>
          </a:p>
        </p:txBody>
      </p:sp>
      <p:pic>
        <p:nvPicPr>
          <p:cNvPr id="5" name="Image 0" descr="/mnt/data/extracted_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91199"/>
            <a:ext cx="5715000" cy="42732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0840" y="1207008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30% loss line is a reference from fragmentation/percolation theory, not an observed transition proven here.</a:t>
            </a:r>
            <a:endParaRPr lang="en-US" sz="15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Most aggregate points remain far below that threshold in the processed 2000–2023 data.</a:t>
            </a:r>
            <a:endParaRPr lang="en-US" sz="15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Core retention still differs substantially, so area-based loss alone is insufficient.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812280" y="37033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E9F6EE"/>
          </a:solidFill>
          <a:ln w="11430">
            <a:solidFill>
              <a:srgbClr val="1C7C54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Core-area metrics reveal stress that cumulative-loss percentage may miss.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12280" y="473659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 interpretation: forest configuration and interior/core habitat should be evaluated alongside total forest-area change.</a:t>
            </a:r>
            <a:endParaRPr lang="en-US" sz="1450" dirty="0"/>
          </a:p>
        </p:txBody>
      </p:sp>
      <p:sp>
        <p:nvSpPr>
          <p:cNvPr id="9" name="Text 6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0" name="Text 7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1" name="Text 8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2" name="Text 9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3" name="Text 10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14" name="Text 11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15" name="Text 12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6" name="Text 13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17" name="Text 14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8" name="Text 15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14/20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4 — Core-retention trajectories and cluster labels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3.4 Temporal trajectories</a:t>
            </a:r>
            <a:endParaRPr lang="en-US" sz="950" dirty="0"/>
          </a:p>
        </p:txBody>
      </p:sp>
      <p:pic>
        <p:nvPicPr>
          <p:cNvPr id="5" name="Image 0" descr="/mnt/data/extracted_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075" y="987552"/>
            <a:ext cx="6843729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09560" y="1097280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 labels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26680" y="1600200"/>
            <a:ext cx="2029968" cy="310896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Island group</a:t>
            </a:r>
            <a:endParaRPr lang="en-US" sz="890" dirty="0"/>
          </a:p>
        </p:txBody>
      </p:sp>
      <p:sp>
        <p:nvSpPr>
          <p:cNvPr id="8" name="Text 5"/>
          <p:cNvSpPr/>
          <p:nvPr/>
        </p:nvSpPr>
        <p:spPr>
          <a:xfrm>
            <a:off x="9756648" y="1600200"/>
            <a:ext cx="1627632" cy="310896"/>
          </a:xfrm>
          <a:prstGeom prst="rect">
            <a:avLst/>
          </a:prstGeom>
          <a:solidFill>
            <a:srgbClr val="EEF1F0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Trajectory label</a:t>
            </a:r>
            <a:endParaRPr lang="en-US" sz="890" dirty="0"/>
          </a:p>
        </p:txBody>
      </p:sp>
      <p:sp>
        <p:nvSpPr>
          <p:cNvPr id="9" name="Text 6"/>
          <p:cNvSpPr/>
          <p:nvPr/>
        </p:nvSpPr>
        <p:spPr>
          <a:xfrm>
            <a:off x="7726680" y="1911096"/>
            <a:ext cx="2029968" cy="310896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Nicobar Islands</a:t>
            </a:r>
            <a:endParaRPr lang="en-US" sz="890" dirty="0"/>
          </a:p>
        </p:txBody>
      </p:sp>
      <p:sp>
        <p:nvSpPr>
          <p:cNvPr id="10" name="Text 7"/>
          <p:cNvSpPr/>
          <p:nvPr/>
        </p:nvSpPr>
        <p:spPr>
          <a:xfrm>
            <a:off x="9756648" y="1911096"/>
            <a:ext cx="1627632" cy="310896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Rapid Collapse</a:t>
            </a:r>
            <a:endParaRPr lang="en-US" sz="890" dirty="0"/>
          </a:p>
        </p:txBody>
      </p:sp>
      <p:sp>
        <p:nvSpPr>
          <p:cNvPr id="11" name="Text 8"/>
          <p:cNvSpPr/>
          <p:nvPr/>
        </p:nvSpPr>
        <p:spPr>
          <a:xfrm>
            <a:off x="7726680" y="2221992"/>
            <a:ext cx="2029968" cy="310896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North &amp; Middle Andaman</a:t>
            </a:r>
            <a:endParaRPr lang="en-US" sz="890" dirty="0"/>
          </a:p>
        </p:txBody>
      </p:sp>
      <p:sp>
        <p:nvSpPr>
          <p:cNvPr id="12" name="Text 9"/>
          <p:cNvSpPr/>
          <p:nvPr/>
        </p:nvSpPr>
        <p:spPr>
          <a:xfrm>
            <a:off x="9756648" y="2221992"/>
            <a:ext cx="1627632" cy="310896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Stable</a:t>
            </a:r>
            <a:endParaRPr lang="en-US" sz="890" dirty="0"/>
          </a:p>
        </p:txBody>
      </p:sp>
      <p:sp>
        <p:nvSpPr>
          <p:cNvPr id="13" name="Text 10"/>
          <p:cNvSpPr/>
          <p:nvPr/>
        </p:nvSpPr>
        <p:spPr>
          <a:xfrm>
            <a:off x="7726680" y="2532888"/>
            <a:ext cx="2029968" cy="310896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South Andaman</a:t>
            </a:r>
            <a:endParaRPr lang="en-US" sz="890" dirty="0"/>
          </a:p>
        </p:txBody>
      </p:sp>
      <p:sp>
        <p:nvSpPr>
          <p:cNvPr id="14" name="Text 11"/>
          <p:cNvSpPr/>
          <p:nvPr/>
        </p:nvSpPr>
        <p:spPr>
          <a:xfrm>
            <a:off x="9756648" y="2532888"/>
            <a:ext cx="1627632" cy="310896"/>
          </a:xfrm>
          <a:prstGeom prst="rect">
            <a:avLst/>
          </a:prstGeom>
          <a:solidFill>
            <a:srgbClr val="FFFFFF"/>
          </a:solidFill>
          <a:ln w="5715">
            <a:solidFill>
              <a:srgbClr val="B7C5BE"/>
            </a:solidFill>
          </a:ln>
        </p:spPr>
        <p:txBody>
          <a:bodyPr wrap="square" lIns="25400" tIns="50800" rIns="508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Degradation</a:t>
            </a:r>
            <a:endParaRPr lang="en-US" sz="890" dirty="0"/>
          </a:p>
        </p:txBody>
      </p:sp>
      <p:sp>
        <p:nvSpPr>
          <p:cNvPr id="15" name="Text 12"/>
          <p:cNvSpPr/>
          <p:nvPr/>
        </p:nvSpPr>
        <p:spPr>
          <a:xfrm>
            <a:off x="7726680" y="3337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labels are descriptive trajectory classes. Because only three aggregate groups are used in the clustering summary, they should not be treated as statistically robust ecological categories.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960120" y="5074920"/>
            <a:ext cx="10149840" cy="566928"/>
          </a:xfrm>
          <a:prstGeom prst="roundRect">
            <a:avLst>
              <a:gd name="adj" fmla="val 12903"/>
            </a:avLst>
          </a:prstGeom>
          <a:solidFill>
            <a:srgbClr val="EAF5F8"/>
          </a:solidFill>
          <a:ln w="11430">
            <a:solidFill>
              <a:srgbClr val="0C4A66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4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the clusters as communication labels, not definitive classification.</a:t>
            </a:r>
            <a:endParaRPr lang="en-US" sz="1500" dirty="0"/>
          </a:p>
        </p:txBody>
      </p:sp>
      <p:sp>
        <p:nvSpPr>
          <p:cNvPr id="17" name="Text 14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8" name="Text 15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9" name="Text 16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20" name="Text 17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21" name="Text 18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22" name="Text 19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23" name="Text 20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4" name="Text 21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25" name="Text 22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6" name="Text 23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15/20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5 — Isolation drivers are relevant but exploratory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3.5 Isolation drivers</a:t>
            </a:r>
            <a:endParaRPr lang="en-US" sz="950" dirty="0"/>
          </a:p>
        </p:txBody>
      </p:sp>
      <p:pic>
        <p:nvPicPr>
          <p:cNvPr id="5" name="Image 0" descr="/mnt/data/extracted_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33234"/>
            <a:ext cx="7315200" cy="27798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097280"/>
            <a:ext cx="1783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0C4A66"/>
            </a:solidFill>
          </a:ln>
        </p:spPr>
        <p:txBody>
          <a:bodyPr wrap="square" lIns="25400" tIns="50800" rIns="50800" bIns="127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4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r=-0.987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C4A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p=0.1043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0" y="1572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mainland distance vs IWFI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222992" y="1097280"/>
            <a:ext cx="1783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C7C54"/>
            </a:solidFill>
          </a:ln>
        </p:spPr>
        <p:txBody>
          <a:bodyPr wrap="square" lIns="25400" tIns="50800" rIns="50800" bIns="127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r=-0.989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p=0.0959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22992" y="15727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effective isolation vs IWFI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348472" y="2578608"/>
            <a:ext cx="3611880" cy="841248"/>
          </a:xfrm>
          <a:prstGeom prst="roundRect">
            <a:avLst>
              <a:gd name="adj" fmla="val 8696"/>
            </a:avLst>
          </a:prstGeom>
          <a:solidFill>
            <a:srgbClr val="FBEDEB"/>
          </a:solidFill>
          <a:ln w="11430">
            <a:solidFill>
              <a:srgbClr val="D94A3A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caveat: n=3 aggregate groups; results are hypothesis-generating rather than causal.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21040" y="3840480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piecewise model reported a CRR stabilization threshold above 3196.95 km², suggesting larger islands may retain core forest more consistently.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60120" y="5212080"/>
            <a:ext cx="10168128" cy="566928"/>
          </a:xfrm>
          <a:prstGeom prst="roundRect">
            <a:avLst>
              <a:gd name="adj" fmla="val 12903"/>
            </a:avLst>
          </a:prstGeom>
          <a:solidFill>
            <a:srgbClr val="E9F6EE"/>
          </a:solidFill>
          <a:ln w="11430">
            <a:solidFill>
              <a:srgbClr val="1C7C54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Interpretation: isolation matters, but field validation and more detailed connectivity modelling are needed.</a:t>
            </a:r>
            <a:endParaRPr lang="en-US" sz="1500" dirty="0"/>
          </a:p>
        </p:txBody>
      </p:sp>
      <p:sp>
        <p:nvSpPr>
          <p:cNvPr id="13" name="Text 10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4" name="Text 11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5" name="Text 12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6" name="Text 13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7" name="Text 14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18" name="Text 15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19" name="Text 16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0" name="Text 17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21" name="Text 18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2" name="Text 19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16/20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6 — Tsunami-period edge-density signal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3.6 Tsunami signal</a:t>
            </a:r>
            <a:endParaRPr lang="en-US" sz="950" dirty="0"/>
          </a:p>
        </p:txBody>
      </p:sp>
      <p:pic>
        <p:nvPicPr>
          <p:cNvPr id="5" name="Image 0" descr="/mnt/data/extracted_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16178"/>
            <a:ext cx="6675120" cy="3619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188720"/>
            <a:ext cx="384048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3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2003–2006 comparison was included because the 26 December 2004 earthquake and tsunami affected the region.</a:t>
            </a:r>
            <a:endParaRPr lang="en-US" sz="153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3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figure separates east- and west-facing island polygons using an aspect proxy.</a:t>
            </a:r>
            <a:endParaRPr lang="en-US" sz="153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53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result is indicative, not conclusive, because the workflow does not directly map field-observed tsunami damage.</a:t>
            </a:r>
            <a:endParaRPr lang="en-US" sz="1530" dirty="0"/>
          </a:p>
        </p:txBody>
      </p:sp>
      <p:sp>
        <p:nvSpPr>
          <p:cNvPr id="7" name="Text 4"/>
          <p:cNvSpPr/>
          <p:nvPr/>
        </p:nvSpPr>
        <p:spPr>
          <a:xfrm>
            <a:off x="7818120" y="3822192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FF5E7"/>
          </a:solidFill>
          <a:ln w="11430">
            <a:solidFill>
              <a:srgbClr val="EFA23A"/>
            </a:solidFill>
          </a:ln>
        </p:spPr>
        <p:txBody>
          <a:bodyPr wrap="square" lIns="88900" tIns="114300" rIns="114300" bIns="889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A2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as a disturbance-screening signal, not direct attribution.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23620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i="1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Contextual comparison: Bahuguna et al. (2008) directly documented coastal ecosystem impacts from the 2004 tsunami using RESOURCESAT AWiFS data.</a:t>
            </a:r>
            <a:endParaRPr lang="en-US" sz="680" dirty="0"/>
          </a:p>
        </p:txBody>
      </p:sp>
      <p:sp>
        <p:nvSpPr>
          <p:cNvPr id="9" name="Text 6">
            <a:hlinkClick r:id="rId2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0" name="Text 7">
            <a:hlinkClick r:id="rId3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1" name="Text 8">
            <a:hlinkClick r:id="rId4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2" name="Text 9">
            <a:hlinkClick r:id="rId5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3" name="Text 10">
            <a:hlinkClick r:id="rId6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14" name="Text 11">
            <a:hlinkClick r:id="rId7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15" name="Text 12">
            <a:hlinkClick r:id="rId8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6" name="Text 13">
            <a:hlinkClick r:id="rId9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17" name="Text 14">
            <a:hlinkClick r:id="rId10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8" name="Text 15">
            <a:hlinkClick r:id="rId11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17/20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dashboard: controls, metrics and charts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3.8 Dashboard</a:t>
            </a:r>
            <a:endParaRPr lang="en-US" sz="950" dirty="0"/>
          </a:p>
        </p:txBody>
      </p:sp>
      <p:pic>
        <p:nvPicPr>
          <p:cNvPr id="5" name="Image 0" descr="/mnt/data/dashboard_overview_cropped.png">
            <a:hlinkClick r:id="rId2" tooltip="Open production dashboard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3760"/>
            <a:ext cx="6903720" cy="35395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18120" y="1005840"/>
            <a:ext cx="2212848" cy="292608"/>
          </a:xfrm>
          <a:prstGeom prst="roundRect">
            <a:avLst>
              <a:gd name="adj" fmla="val 31250"/>
            </a:avLst>
          </a:prstGeom>
          <a:solidFill>
            <a:srgbClr val="0C4A66"/>
          </a:solidFill>
          <a:ln>
            <a:solidFill>
              <a:srgbClr val="0C4A66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Visible dashboard features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99248" y="1536192"/>
            <a:ext cx="39136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View level toggle: Individual island or aggregate island group.</a:t>
            </a:r>
            <a:endParaRPr lang="en-US" sz="142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Island/group dropdown and year slider from 2000 to 2023.</a:t>
            </a:r>
            <a:endParaRPr lang="en-US" sz="142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Summary metrics: island area, mainland distance, latest CRR and cumulative loss.</a:t>
            </a:r>
            <a:endParaRPr lang="en-US" sz="142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Time-series charts for CRR, FI and IWFI.</a:t>
            </a:r>
            <a:endParaRPr lang="en-US" sz="142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Data sources and metric methodology are stated inside the portal.</a:t>
            </a:r>
            <a:endParaRPr lang="en-US" sz="1420" dirty="0"/>
          </a:p>
        </p:txBody>
      </p:sp>
      <p:sp>
        <p:nvSpPr>
          <p:cNvPr id="8" name="Text 5">
            <a:hlinkClick r:id="rId3" tooltip="Open production dashboard"/>
          </p:cNvPr>
          <p:cNvSpPr/>
          <p:nvPr/>
        </p:nvSpPr>
        <p:spPr>
          <a:xfrm>
            <a:off x="7818120" y="4462272"/>
            <a:ext cx="1920240" cy="384048"/>
          </a:xfrm>
          <a:prstGeom prst="roundRect">
            <a:avLst>
              <a:gd name="adj" fmla="val 23810"/>
            </a:avLst>
          </a:prstGeom>
          <a:solidFill>
            <a:srgbClr val="0C4A66"/>
          </a:solidFill>
          <a:ln w="6350">
            <a:solidFill>
              <a:srgbClr val="0C4A66"/>
            </a:solidFill>
          </a:ln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live dashboard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18120" y="49834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Screenshot and button are clickable in slideshow mode.</a:t>
            </a:r>
            <a:endParaRPr lang="en-US" sz="1050" dirty="0"/>
          </a:p>
        </p:txBody>
      </p:sp>
      <p:sp>
        <p:nvSpPr>
          <p:cNvPr id="10" name="Text 7">
            <a:hlinkClick r:id="rId4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1" name="Text 8">
            <a:hlinkClick r:id="rId5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2" name="Text 9">
            <a:hlinkClick r:id="rId6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3" name="Text 10">
            <a:hlinkClick r:id="rId7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4" name="Text 11">
            <a:hlinkClick r:id="rId8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15" name="Text 12">
            <a:hlinkClick r:id="rId9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16" name="Text 13">
            <a:hlinkClick r:id="rId10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1C7C54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7" name="Text 14">
            <a:hlinkClick r:id="rId11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18" name="Text 15">
            <a:hlinkClick r:id="rId12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19" name="Text 16">
            <a:hlinkClick r:id="rId13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3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18/20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dashboard: map layers and interpretation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3.8 Dashboard</a:t>
            </a:r>
            <a:endParaRPr lang="en-US" sz="950" dirty="0"/>
          </a:p>
        </p:txBody>
      </p:sp>
      <p:pic>
        <p:nvPicPr>
          <p:cNvPr id="5" name="Image 0" descr="/mnt/data/dashboard_cumulative_light_cropped.png">
            <a:hlinkClick r:id="rId2" tooltip="Open production dashboard"/>
          </p:cNvPr>
          <p:cNvPicPr>
            <a:picLocks noChangeAspect="1"/>
          </p:cNvPicPr>
          <p:nvPr/>
        </p:nvPicPr>
        <p:blipFill>
          <a:blip r:embed="rId1"/>
          <a:srcRect l="7000" r="11135" t="3000" b="17000"/>
          <a:stretch/>
        </p:blipFill>
        <p:spPr>
          <a:xfrm>
            <a:off x="594360" y="1024128"/>
            <a:ext cx="2779776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0175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Cumulative loss: older-to-newer deforestation colours</a:t>
            </a:r>
            <a:endParaRPr lang="en-US" sz="910" dirty="0"/>
          </a:p>
        </p:txBody>
      </p:sp>
      <p:pic>
        <p:nvPicPr>
          <p:cNvPr id="7" name="Image 1" descr="/mnt/data/dashboard_cumulative_satellite_cropped.png">
            <a:hlinkClick r:id="rId4" tooltip="Open production dashboard"/>
          </p:cNvPr>
          <p:cNvPicPr>
            <a:picLocks noChangeAspect="1"/>
          </p:cNvPicPr>
          <p:nvPr/>
        </p:nvPicPr>
        <p:blipFill>
          <a:blip r:embed="rId3"/>
          <a:srcRect l="7000" r="11135" t="3000" b="17000"/>
          <a:stretch/>
        </p:blipFill>
        <p:spPr>
          <a:xfrm>
            <a:off x="3767328" y="1024128"/>
            <a:ext cx="2779776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67328" y="30175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Satellite basemap: terrain and coastline context</a:t>
            </a:r>
            <a:endParaRPr lang="en-US" sz="910" dirty="0"/>
          </a:p>
        </p:txBody>
      </p:sp>
      <p:pic>
        <p:nvPicPr>
          <p:cNvPr id="9" name="Image 2" descr="/mnt/data/dashboard_esa_landcover_cropped.png">
            <a:hlinkClick r:id="rId6" tooltip="Open production dashboard"/>
          </p:cNvPr>
          <p:cNvPicPr>
            <a:picLocks noChangeAspect="1"/>
          </p:cNvPicPr>
          <p:nvPr/>
        </p:nvPicPr>
        <p:blipFill>
          <a:blip r:embed="rId5"/>
          <a:srcRect l="7000" r="13531" t="3000" b="17000"/>
          <a:stretch/>
        </p:blipFill>
        <p:spPr>
          <a:xfrm>
            <a:off x="6940296" y="1024128"/>
            <a:ext cx="2779776" cy="1920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0296" y="301752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ESA WorldCover 2021: static land-cover snapshot</a:t>
            </a:r>
            <a:endParaRPr lang="en-US" sz="910" dirty="0"/>
          </a:p>
        </p:txBody>
      </p:sp>
      <p:pic>
        <p:nvPicPr>
          <p:cNvPr id="11" name="Image 3" descr="/mnt/data/dashboard_aggregate_group_cropped.png">
            <a:hlinkClick r:id="rId8" tooltip="Open production dashboard"/>
          </p:cNvPr>
          <p:cNvPicPr>
            <a:picLocks noChangeAspect="1"/>
          </p:cNvPicPr>
          <p:nvPr/>
        </p:nvPicPr>
        <p:blipFill>
          <a:blip r:embed="rId7"/>
          <a:srcRect l="32000" r="25143" t="5000" b="15000"/>
          <a:stretch/>
        </p:blipFill>
        <p:spPr>
          <a:xfrm>
            <a:off x="9966960" y="1024128"/>
            <a:ext cx="2057400" cy="19202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6696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Aggregate view: multiple island boundaries</a:t>
            </a:r>
            <a:endParaRPr lang="en-US" sz="910" dirty="0"/>
          </a:p>
        </p:txBody>
      </p:sp>
      <p:sp>
        <p:nvSpPr>
          <p:cNvPr id="13" name="Text 7"/>
          <p:cNvSpPr/>
          <p:nvPr/>
        </p:nvSpPr>
        <p:spPr>
          <a:xfrm>
            <a:off x="731520" y="3675888"/>
            <a:ext cx="1691640" cy="292608"/>
          </a:xfrm>
          <a:prstGeom prst="roundRect">
            <a:avLst>
              <a:gd name="adj" fmla="val 31250"/>
            </a:avLst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layer controls</a:t>
            </a:r>
            <a:endParaRPr lang="en-US" sz="1050" dirty="0"/>
          </a:p>
        </p:txBody>
      </p:sp>
      <p:sp>
        <p:nvSpPr>
          <p:cNvPr id="14" name="Text 8"/>
          <p:cNvSpPr/>
          <p:nvPr/>
        </p:nvSpPr>
        <p:spPr>
          <a:xfrm>
            <a:off x="749808" y="4169664"/>
            <a:ext cx="54406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Forest Cover: displays forested pixels for the selected island and year.</a:t>
            </a:r>
            <a:endParaRPr lang="en-US" sz="138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Cumulative Deforestation: shows loss accumulated up to the selected year.</a:t>
            </a:r>
            <a:endParaRPr lang="en-US" sz="138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Annual Loss Events: isolates year-specific loss events.</a:t>
            </a:r>
            <a:endParaRPr lang="en-US" sz="138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3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ESA Land Cover: tree cover, shrubland, grassland, cropland, built-up, bare/sparse and water bodies.</a:t>
            </a:r>
            <a:endParaRPr lang="en-US" sz="1380" dirty="0"/>
          </a:p>
        </p:txBody>
      </p:sp>
      <p:sp>
        <p:nvSpPr>
          <p:cNvPr id="15" name="Text 9"/>
          <p:cNvSpPr/>
          <p:nvPr/>
        </p:nvSpPr>
        <p:spPr>
          <a:xfrm>
            <a:off x="6629400" y="3675888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0C4A66"/>
          </a:solidFill>
          <a:ln>
            <a:solidFill>
              <a:srgbClr val="0C4A66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Interpretive use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629400" y="4169664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layer switcher allows the same island to be interpreted through clean basemaps, satellite context, deforestation timing and 2021 land-cover classes. This makes the dashboard useful for screening, visual communication and report-ready screenshots.</a:t>
            </a:r>
            <a:endParaRPr lang="en-US" sz="1420" dirty="0"/>
          </a:p>
        </p:txBody>
      </p:sp>
      <p:sp>
        <p:nvSpPr>
          <p:cNvPr id="17" name="Text 11">
            <a:hlinkClick r:id="rId9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8" name="Text 12">
            <a:hlinkClick r:id="rId10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9" name="Text 13">
            <a:hlinkClick r:id="rId11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20" name="Text 14">
            <a:hlinkClick r:id="rId12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21" name="Text 15">
            <a:hlinkClick r:id="rId13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3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22" name="Text 16">
            <a:hlinkClick r:id="rId14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4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23" name="Text 17">
            <a:hlinkClick r:id="rId15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5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4" name="Text 18">
            <a:hlinkClick r:id="rId16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6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25" name="Text 19">
            <a:hlinkClick r:id="rId17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7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6" name="Text 20">
            <a:hlinkClick r:id="rId18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8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19/20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00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135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Conclusions, limitations and deliverables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927080" cy="0"/>
          </a:xfrm>
          <a:prstGeom prst="line">
            <a:avLst/>
          </a:prstGeom>
          <a:noFill/>
          <a:ln w="10160">
            <a:solidFill>
              <a:srgbClr val="B7C5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7232" y="265176"/>
            <a:ext cx="2139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4–5 Close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conclusions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536192"/>
            <a:ext cx="52120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Aggregate forest-area loss is low, but forest configuration shows measurable fragmentation stress.</a:t>
            </a:r>
            <a:endParaRPr lang="en-US" sz="148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South Andaman has the lowest aggregate 2023 CRR, indicating stronger edge-dominated forest.</a:t>
            </a:r>
            <a:endParaRPr lang="en-US" sz="148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Tiny islands show the highest mean FI and IWFI in 2023, though ratios require careful interpretation.</a:t>
            </a:r>
            <a:endParaRPr lang="en-US" sz="148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8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dashboard turns the analysis into an interactive screening and communication tool.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6355080" y="1024128"/>
            <a:ext cx="1234440" cy="292608"/>
          </a:xfrm>
          <a:prstGeom prst="roundRect">
            <a:avLst>
              <a:gd name="adj" fmla="val 31250"/>
            </a:avLst>
          </a:prstGeom>
          <a:solidFill>
            <a:srgbClr val="D94A3A"/>
          </a:solidFill>
          <a:ln>
            <a:solidFill>
              <a:srgbClr val="D94A3A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55080" y="1536192"/>
            <a:ext cx="5166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Hansen GFC identifies tree-cover loss but does not directly separate natural disturbance, plantation rotation or human clearing.</a:t>
            </a:r>
            <a:endParaRPr lang="en-US" sz="142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Very small islands can produce unstable edge and patch ratios.</a:t>
            </a:r>
            <a:endParaRPr lang="en-US" sz="142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Aggregate statistical models are exploratory because the regression/cluster summary has only three island groups.</a:t>
            </a:r>
            <a:endParaRPr lang="en-US" sz="142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42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Field validation and species-level habitat requirements are needed for site-level planning.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658368" y="4160520"/>
            <a:ext cx="1572768" cy="292608"/>
          </a:xfrm>
          <a:prstGeom prst="roundRect">
            <a:avLst>
              <a:gd name="adj" fmla="val 31250"/>
            </a:avLst>
          </a:prstGeom>
          <a:solidFill>
            <a:srgbClr val="0C4A66"/>
          </a:solidFill>
          <a:ln>
            <a:solidFill>
              <a:srgbClr val="0C4A66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Acknowledgements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4645152"/>
            <a:ext cx="5285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C3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Hansen Global Forest Change team, ESA WorldCover consortium, GADM/vector boundary providers, Python geospatial ecosystem, Streamlit/Folium, and Professor Ramachandra Prasad.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55080" y="4160520"/>
            <a:ext cx="1234440" cy="292608"/>
          </a:xfrm>
          <a:prstGeom prst="roundRect">
            <a:avLst>
              <a:gd name="adj" fmla="val 31250"/>
            </a:avLst>
          </a:prstGeom>
          <a:solidFill>
            <a:srgbClr val="1C7C54"/>
          </a:solidFill>
          <a:ln>
            <a:solidFill>
              <a:srgbClr val="1C7C54"/>
            </a:solidFill>
          </a:ln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Deliverables</a:t>
            </a:r>
            <a:endParaRPr lang="en-US" sz="1050" dirty="0"/>
          </a:p>
        </p:txBody>
      </p:sp>
      <p:sp>
        <p:nvSpPr>
          <p:cNvPr id="12" name="Text 10">
            <a:hlinkClick r:id="rId1" tooltip="Open production dashboard"/>
          </p:cNvPr>
          <p:cNvSpPr/>
          <p:nvPr/>
        </p:nvSpPr>
        <p:spPr>
          <a:xfrm>
            <a:off x="6446520" y="4645152"/>
            <a:ext cx="1508760" cy="347472"/>
          </a:xfrm>
          <a:prstGeom prst="roundRect">
            <a:avLst>
              <a:gd name="adj" fmla="val 26316"/>
            </a:avLst>
          </a:prstGeom>
          <a:solidFill>
            <a:srgbClr val="0C4A66"/>
          </a:solidFill>
          <a:ln w="6350">
            <a:solidFill>
              <a:srgbClr val="0C4A66"/>
            </a:solidFill>
          </a:ln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dashboard</a:t>
            </a:r>
            <a:endParaRPr lang="en-US" sz="1100" dirty="0"/>
          </a:p>
        </p:txBody>
      </p:sp>
      <p:sp>
        <p:nvSpPr>
          <p:cNvPr id="13" name="Text 11">
            <a:hlinkClick r:id="rId2" tooltip="Open GitHub repository"/>
          </p:cNvPr>
          <p:cNvSpPr/>
          <p:nvPr/>
        </p:nvSpPr>
        <p:spPr>
          <a:xfrm>
            <a:off x="8138160" y="4645152"/>
            <a:ext cx="1664208" cy="347472"/>
          </a:xfrm>
          <a:prstGeom prst="roundRect">
            <a:avLst>
              <a:gd name="adj" fmla="val 26316"/>
            </a:avLst>
          </a:prstGeom>
          <a:solidFill>
            <a:srgbClr val="0B3D2E"/>
          </a:solidFill>
          <a:ln w="6350">
            <a:solidFill>
              <a:srgbClr val="0B3D2E"/>
            </a:solidFill>
          </a:ln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invalidUrl="" action="" tgtFrame="" tooltip="Open GitHub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574243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references: Hansen et al. (2013); Zanaga et al. (2022); Fahrig (2003); Haddad et al. (2015); Bahuguna et al. (2008); Tiwari et al. (2016); Veettil et al. (2020); Bosch (2019); McGarigal &amp; Marks (1995).</a:t>
            </a:r>
            <a:endParaRPr lang="en-US" sz="850" dirty="0"/>
          </a:p>
        </p:txBody>
      </p:sp>
      <p:sp>
        <p:nvSpPr>
          <p:cNvPr id="15" name="Text 13">
            <a:hlinkClick r:id="rId3" tooltip="Jump to slide 2" action="ppaction://hlinksldjump"/>
          </p:cNvPr>
          <p:cNvSpPr/>
          <p:nvPr/>
        </p:nvSpPr>
        <p:spPr>
          <a:xfrm>
            <a:off x="50292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action="ppaction://hlinksldjump" tooltip="Jump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750" dirty="0"/>
          </a:p>
        </p:txBody>
      </p:sp>
      <p:sp>
        <p:nvSpPr>
          <p:cNvPr id="16" name="Text 14">
            <a:hlinkClick r:id="rId4" tooltip="Jump to slide 3" action="ppaction://hlinksldjump"/>
          </p:cNvPr>
          <p:cNvSpPr/>
          <p:nvPr/>
        </p:nvSpPr>
        <p:spPr>
          <a:xfrm>
            <a:off x="1078992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4" action="ppaction://hlinksldjump" tooltip="Jump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</a:t>
            </a:r>
            <a:endParaRPr lang="en-US" sz="750" dirty="0"/>
          </a:p>
        </p:txBody>
      </p:sp>
      <p:sp>
        <p:nvSpPr>
          <p:cNvPr id="17" name="Text 15">
            <a:hlinkClick r:id="rId5" tooltip="Jump to slide 5" action="ppaction://hlinksldjump"/>
          </p:cNvPr>
          <p:cNvSpPr/>
          <p:nvPr/>
        </p:nvSpPr>
        <p:spPr>
          <a:xfrm>
            <a:off x="1655064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5" action="ppaction://hlinksldjump" tooltip="Jump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Study</a:t>
            </a:r>
            <a:endParaRPr lang="en-US" sz="750" dirty="0"/>
          </a:p>
        </p:txBody>
      </p:sp>
      <p:sp>
        <p:nvSpPr>
          <p:cNvPr id="18" name="Text 16">
            <a:hlinkClick r:id="rId6" tooltip="Jump to slide 7" action="ppaction://hlinksldjump"/>
          </p:cNvPr>
          <p:cNvSpPr/>
          <p:nvPr/>
        </p:nvSpPr>
        <p:spPr>
          <a:xfrm>
            <a:off x="223113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6" action="ppaction://hlinksldjump" tooltip="Jump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</a:t>
            </a:r>
            <a:endParaRPr lang="en-US" sz="750" dirty="0"/>
          </a:p>
        </p:txBody>
      </p:sp>
      <p:sp>
        <p:nvSpPr>
          <p:cNvPr id="19" name="Text 17">
            <a:hlinkClick r:id="rId7" tooltip="Jump to slide 8" action="ppaction://hlinksldjump"/>
          </p:cNvPr>
          <p:cNvSpPr/>
          <p:nvPr/>
        </p:nvSpPr>
        <p:spPr>
          <a:xfrm>
            <a:off x="2807208" y="6455664"/>
            <a:ext cx="64008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7" action="ppaction://hlinksldjump" tooltip="Jump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Methods</a:t>
            </a:r>
            <a:endParaRPr lang="en-US" sz="750" dirty="0"/>
          </a:p>
        </p:txBody>
      </p:sp>
      <p:sp>
        <p:nvSpPr>
          <p:cNvPr id="20" name="Text 18">
            <a:hlinkClick r:id="rId8" tooltip="Jump to slide 12" action="ppaction://hlinksldjump"/>
          </p:cNvPr>
          <p:cNvSpPr/>
          <p:nvPr/>
        </p:nvSpPr>
        <p:spPr>
          <a:xfrm>
            <a:off x="3520440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8" action="ppaction://hlinksldjump" tooltip="Jump to slide 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Results</a:t>
            </a:r>
            <a:endParaRPr lang="en-US" sz="750" dirty="0"/>
          </a:p>
        </p:txBody>
      </p:sp>
      <p:sp>
        <p:nvSpPr>
          <p:cNvPr id="21" name="Text 19">
            <a:hlinkClick r:id="rId9" tooltip="Jump to slide 18" action="ppaction://hlinksldjump"/>
          </p:cNvPr>
          <p:cNvSpPr/>
          <p:nvPr/>
        </p:nvSpPr>
        <p:spPr>
          <a:xfrm>
            <a:off x="409651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E9F6EE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1C7C5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9" action="ppaction://hlinksldjump" tooltip="Jump to slide 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2" name="Text 20">
            <a:hlinkClick r:id="rId10" tooltip="Jump to slide 20" action="ppaction://hlinksldjump"/>
          </p:cNvPr>
          <p:cNvSpPr/>
          <p:nvPr/>
        </p:nvSpPr>
        <p:spPr>
          <a:xfrm>
            <a:off x="4882896" y="6455664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1C7C54"/>
          </a:solidFill>
          <a:ln w="4445">
            <a:solidFill>
              <a:srgbClr val="1C7C54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0" action="ppaction://hlinksldjump" tooltip="Jump to slide 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Close</a:t>
            </a:r>
            <a:endParaRPr lang="en-US" sz="750" dirty="0"/>
          </a:p>
        </p:txBody>
      </p:sp>
      <p:sp>
        <p:nvSpPr>
          <p:cNvPr id="23" name="Text 21">
            <a:hlinkClick r:id="rId11" tooltip="Open production dashboard"/>
          </p:cNvPr>
          <p:cNvSpPr/>
          <p:nvPr/>
        </p:nvSpPr>
        <p:spPr>
          <a:xfrm>
            <a:off x="9281160" y="6455664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0C4A66"/>
          </a:solidFill>
          <a:ln w="4445">
            <a:solidFill>
              <a:srgbClr val="0C4A66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Open production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750" dirty="0"/>
          </a:p>
        </p:txBody>
      </p:sp>
      <p:sp>
        <p:nvSpPr>
          <p:cNvPr id="24" name="Text 22">
            <a:hlinkClick r:id="rId12" tooltip="Open source code repository"/>
          </p:cNvPr>
          <p:cNvSpPr/>
          <p:nvPr/>
        </p:nvSpPr>
        <p:spPr>
          <a:xfrm>
            <a:off x="10314432" y="6455664"/>
            <a:ext cx="713232" cy="219456"/>
          </a:xfrm>
          <a:prstGeom prst="roundRect">
            <a:avLst>
              <a:gd name="adj" fmla="val 33333"/>
            </a:avLst>
          </a:prstGeom>
          <a:solidFill>
            <a:srgbClr val="0B3D2E"/>
          </a:solidFill>
          <a:ln w="4445">
            <a:solidFill>
              <a:srgbClr val="0B3D2E"/>
            </a:solidFill>
          </a:ln>
        </p:spPr>
        <p:txBody>
          <a:bodyPr wrap="square" lIns="12700" tIns="25400" rIns="25400" bIns="12700" rtlCol="0" anchor="ctr"/>
          <a:lstStyle/>
          <a:p>
            <a:pPr algn="ctr" indent="0" marL="0">
              <a:buNone/>
            </a:pPr>
            <a:r>
              <a:rPr lang="en-US" sz="750" b="1" u="sng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invalidUrl="" action="" tgtFrame="" tooltip="Open source cod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842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A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20/20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IS Final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Fragmentation Dynamics in the Andaman and Nicobar Islands (2000–2023)</dc:title>
  <dc:subject>Forest fragmentation dynamics in the Andaman and Nicobar Islands</dc:subject>
  <dc:creator>Sanchit Kumar and Priyanshu Jha</dc:creator>
  <cp:lastModifiedBy>Sanchit Kumar and Priyanshu Jha</cp:lastModifiedBy>
  <cp:revision>1</cp:revision>
  <dcterms:created xsi:type="dcterms:W3CDTF">2026-05-10T22:02:46Z</dcterms:created>
  <dcterms:modified xsi:type="dcterms:W3CDTF">2026-05-10T22:02:46Z</dcterms:modified>
</cp:coreProperties>
</file>